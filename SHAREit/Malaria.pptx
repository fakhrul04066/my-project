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4"/>
    <p:sldId id="277" r:id="rId25"/>
    <p:sldId id="279" r:id="rId26"/>
    <p:sldId id="278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15" r:id="rId35"/>
    <p:sldId id="287" r:id="rId36"/>
    <p:sldId id="288" r:id="rId37"/>
    <p:sldId id="289" r:id="rId38"/>
    <p:sldId id="292" r:id="rId39"/>
    <p:sldId id="290" r:id="rId40"/>
    <p:sldId id="291" r:id="rId41"/>
    <p:sldId id="317" r:id="rId42"/>
    <p:sldId id="318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20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3" d="100"/>
          <a:sy n="73" d="100"/>
        </p:scale>
        <p:origin x="-124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625D4-483A-4154-B6A8-0FF17366820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52BDEC-DD53-43AA-A9C1-0A0C7B094D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Following parenteral administration,</a:t>
            </a:r>
            <a:r>
              <a:rPr lang="en-US" sz="1200" baseline="0" dirty="0"/>
              <a:t> toxic conc. may be attained in plasma in a very short time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2BDEC-DD53-43AA-A9C1-0A0C7B094D0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/>
              <a:t>Babesiosis</a:t>
            </a:r>
            <a:r>
              <a:rPr lang="en-US" sz="1200" dirty="0"/>
              <a:t> is a disease</a:t>
            </a:r>
            <a:r>
              <a:rPr lang="en-US" sz="1200" baseline="0" dirty="0"/>
              <a:t> infected </a:t>
            </a:r>
            <a:r>
              <a:rPr lang="en-US" sz="1200" baseline="0" dirty="0" err="1"/>
              <a:t>frm</a:t>
            </a:r>
            <a:r>
              <a:rPr lang="en-US" sz="1200" baseline="0" dirty="0"/>
              <a:t> the bite f a tick infected with the parasite Babesia….causes flu like syndrome.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2BDEC-DD53-43AA-A9C1-0A0C7B094D0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Radical cure : </a:t>
            </a:r>
            <a:r>
              <a:rPr lang="en-US" sz="1200" b="0" dirty="0"/>
              <a:t>Rx of both the blood stage and liver stage of malarial parasite… obtained by primaquine that eradicates liver</a:t>
            </a:r>
            <a:r>
              <a:rPr lang="en-US" sz="1200" b="0" baseline="0" dirty="0"/>
              <a:t> stage of p. </a:t>
            </a:r>
            <a:r>
              <a:rPr lang="en-US" sz="1200" b="0" baseline="0" dirty="0" err="1"/>
              <a:t>vivax</a:t>
            </a:r>
            <a:r>
              <a:rPr lang="en-US" sz="1200" b="0" baseline="0" dirty="0"/>
              <a:t> malaria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2BDEC-DD53-43AA-A9C1-0A0C7B094D0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838200"/>
            <a:ext cx="6858000" cy="990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Antimalarial Drugs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514600"/>
            <a:ext cx="6858000" cy="2743200"/>
          </a:xfrm>
        </p:spPr>
        <p:txBody>
          <a:bodyPr>
            <a:normAutofit/>
          </a:bodyPr>
          <a:lstStyle/>
          <a:p>
            <a:pPr marR="64135" lvl="0" algn="ctr">
              <a:spcBef>
                <a:spcPct val="0"/>
              </a:spcBef>
              <a:buClr>
                <a:srgbClr val="2DA2BF"/>
              </a:buClr>
              <a:buSzPct val="68000"/>
            </a:pPr>
            <a:r>
              <a:rPr lang="en-GB" altLang="en-US" sz="3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Dr.</a:t>
            </a:r>
            <a:r>
              <a:rPr lang="en-GB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GB" altLang="en-US" sz="3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Umme</a:t>
            </a:r>
            <a:r>
              <a:rPr lang="en-GB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 Salma</a:t>
            </a:r>
            <a:endParaRPr lang="en-GB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R="64135" lvl="0" algn="ctr">
              <a:spcBef>
                <a:spcPct val="0"/>
              </a:spcBef>
              <a:buClr>
                <a:srgbClr val="2DA2BF"/>
              </a:buClr>
              <a:buSzPct val="68000"/>
            </a:pP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Lecturer</a:t>
            </a:r>
            <a:endParaRPr lang="en-US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R="64135" lvl="0" algn="ctr">
              <a:spcBef>
                <a:spcPct val="0"/>
              </a:spcBef>
              <a:buClr>
                <a:srgbClr val="2DA2BF"/>
              </a:buClr>
              <a:buSzPct val="68000"/>
            </a:pP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Department of Pharmacology</a:t>
            </a:r>
            <a:endParaRPr lang="en-US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80803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Malaria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Most important </a:t>
            </a:r>
            <a:r>
              <a:rPr lang="en-US" sz="3200" b="1" dirty="0"/>
              <a:t>parasitic</a:t>
            </a:r>
            <a:r>
              <a:rPr lang="en-US" sz="3200" dirty="0"/>
              <a:t> infection.</a:t>
            </a:r>
            <a:endParaRPr lang="en-US" sz="3200" dirty="0"/>
          </a:p>
          <a:p>
            <a:r>
              <a:rPr lang="en-US" sz="3200" dirty="0"/>
              <a:t>Mosquito borne disease characterized by periodic episodes of fever.</a:t>
            </a:r>
            <a:endParaRPr lang="en-US" sz="3200" dirty="0"/>
          </a:p>
          <a:p>
            <a:r>
              <a:rPr lang="en-US" sz="3200" dirty="0"/>
              <a:t> The periodic episode is due to periodic rupture of red cells with release of </a:t>
            </a:r>
            <a:r>
              <a:rPr lang="en-US" sz="3200" dirty="0" err="1"/>
              <a:t>merozoites</a:t>
            </a:r>
            <a:r>
              <a:rPr lang="en-US" sz="3200" dirty="0"/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772400" cy="7318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Causative factor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7772400" cy="4876800"/>
          </a:xfrm>
        </p:spPr>
        <p:txBody>
          <a:bodyPr>
            <a:normAutofit/>
          </a:bodyPr>
          <a:lstStyle/>
          <a:p>
            <a:r>
              <a:rPr lang="en-US" sz="3200" dirty="0"/>
              <a:t>Malaria is caused by protozoa of the genus </a:t>
            </a:r>
            <a:r>
              <a:rPr lang="en-US" sz="3200" i="1" dirty="0"/>
              <a:t>Plasmodium</a:t>
            </a:r>
            <a:endParaRPr lang="en-US" sz="3200" i="1" dirty="0"/>
          </a:p>
          <a:p>
            <a:r>
              <a:rPr lang="en-US" sz="3200" dirty="0"/>
              <a:t>Four species of </a:t>
            </a:r>
            <a:r>
              <a:rPr lang="en-US" sz="3200" i="1" dirty="0"/>
              <a:t>Plasmodium </a:t>
            </a:r>
            <a:r>
              <a:rPr lang="en-US" sz="3200" b="1" dirty="0"/>
              <a:t>:</a:t>
            </a:r>
            <a:endParaRPr lang="en-US" sz="3200" b="1" dirty="0"/>
          </a:p>
          <a:p>
            <a:pPr marL="1177290" lvl="2" indent="-514350">
              <a:buFont typeface="+mj-lt"/>
              <a:buAutoNum type="arabicPeriod"/>
            </a:pPr>
            <a:r>
              <a:rPr lang="en-US" sz="3200" i="1" dirty="0"/>
              <a:t>Plasmodium </a:t>
            </a:r>
            <a:r>
              <a:rPr lang="en-US" sz="3200" i="1" dirty="0" err="1"/>
              <a:t>vivax</a:t>
            </a:r>
            <a:endParaRPr lang="en-US" sz="3200" i="1" dirty="0"/>
          </a:p>
          <a:p>
            <a:pPr marL="1177290" lvl="2" indent="-514350">
              <a:buFont typeface="+mj-lt"/>
              <a:buAutoNum type="arabicPeriod"/>
            </a:pPr>
            <a:r>
              <a:rPr lang="en-US" sz="3200" i="1" dirty="0"/>
              <a:t>P. </a:t>
            </a:r>
            <a:r>
              <a:rPr lang="en-US" sz="3200" i="1" dirty="0" err="1"/>
              <a:t>Ovalae</a:t>
            </a:r>
            <a:endParaRPr lang="en-US" sz="3200" i="1" dirty="0"/>
          </a:p>
          <a:p>
            <a:pPr marL="1177290" lvl="2" indent="-514350">
              <a:buFont typeface="+mj-lt"/>
              <a:buAutoNum type="arabicPeriod"/>
            </a:pPr>
            <a:r>
              <a:rPr lang="en-US" sz="3200" i="1" dirty="0"/>
              <a:t>Plasmodium </a:t>
            </a:r>
            <a:r>
              <a:rPr lang="en-US" sz="3200" i="1" dirty="0" err="1"/>
              <a:t>malariae</a:t>
            </a:r>
            <a:endParaRPr lang="en-US" sz="3200" i="1" dirty="0"/>
          </a:p>
          <a:p>
            <a:pPr marL="1177290" lvl="2" indent="-514350">
              <a:buFont typeface="+mj-lt"/>
              <a:buAutoNum type="arabicPeriod"/>
            </a:pPr>
            <a:r>
              <a:rPr lang="en-US" sz="3200" i="1" dirty="0"/>
              <a:t>Plasmodium falciparum</a:t>
            </a:r>
            <a:endParaRPr lang="en-US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Mode of transmission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/>
              <a:t>Plasmodium </a:t>
            </a:r>
            <a:r>
              <a:rPr lang="en-US" sz="3200" dirty="0"/>
              <a:t>is most commonly transmitted through </a:t>
            </a:r>
            <a:r>
              <a:rPr lang="en-US" sz="3200" b="1" dirty="0"/>
              <a:t>the bite of a female Anopheles mosquito</a:t>
            </a:r>
            <a:r>
              <a:rPr lang="en-US" sz="3200" dirty="0"/>
              <a:t>.</a:t>
            </a:r>
            <a:endParaRPr lang="en-US" sz="3200" dirty="0"/>
          </a:p>
          <a:p>
            <a:r>
              <a:rPr lang="en-US" sz="3200" dirty="0"/>
              <a:t>Malaria can also be transmitted by</a:t>
            </a: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    ---- blood transfusion</a:t>
            </a: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    ---- vertically from mother to fetus across the placenta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80803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Pattern of malaria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92382"/>
            <a:ext cx="8305800" cy="5618018"/>
          </a:xfrm>
        </p:spPr>
        <p:txBody>
          <a:bodyPr>
            <a:normAutofit/>
          </a:bodyPr>
          <a:lstStyle/>
          <a:p>
            <a:r>
              <a:rPr lang="en-US" sz="3200" i="1" dirty="0"/>
              <a:t>P. falciparum      </a:t>
            </a:r>
            <a:r>
              <a:rPr lang="en-US" sz="3200" dirty="0"/>
              <a:t>Malignant tertian    No relapse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                                 </a:t>
            </a:r>
            <a:r>
              <a:rPr lang="en-US" sz="3200" dirty="0"/>
              <a:t>malaria</a:t>
            </a:r>
            <a:endParaRPr lang="en-US" sz="3200" dirty="0"/>
          </a:p>
          <a:p>
            <a:pPr marL="457200" indent="-457200"/>
            <a:r>
              <a:rPr lang="en-US" sz="3200" i="1" dirty="0"/>
              <a:t>P. </a:t>
            </a:r>
            <a:r>
              <a:rPr lang="en-US" sz="3200" i="1" dirty="0" err="1"/>
              <a:t>vivax</a:t>
            </a:r>
            <a:r>
              <a:rPr lang="en-US" sz="3200" i="1" dirty="0"/>
              <a:t>             </a:t>
            </a:r>
            <a:r>
              <a:rPr lang="en-US" sz="3200" dirty="0"/>
              <a:t>Benign tertian           Relapse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malaria</a:t>
            </a:r>
            <a:endParaRPr lang="en-US" sz="3200" dirty="0"/>
          </a:p>
          <a:p>
            <a:pPr marL="457200" indent="-457200"/>
            <a:r>
              <a:rPr lang="en-US" sz="3200" i="1" dirty="0"/>
              <a:t>P. </a:t>
            </a:r>
            <a:r>
              <a:rPr lang="en-US" sz="3200" i="1" dirty="0" err="1"/>
              <a:t>Ovalae</a:t>
            </a:r>
            <a:r>
              <a:rPr lang="en-US" sz="3200" i="1" dirty="0"/>
              <a:t>          </a:t>
            </a:r>
            <a:r>
              <a:rPr lang="en-US" sz="3200" dirty="0"/>
              <a:t>Benign tertian           Relapse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malaria</a:t>
            </a:r>
            <a:endParaRPr lang="en-US" sz="3200" dirty="0"/>
          </a:p>
          <a:p>
            <a:pPr marL="457200" indent="-457200"/>
            <a:r>
              <a:rPr lang="en-US" sz="3200" i="1" dirty="0"/>
              <a:t>P. </a:t>
            </a:r>
            <a:r>
              <a:rPr lang="en-US" sz="3200" i="1" dirty="0" err="1"/>
              <a:t>Malariae</a:t>
            </a:r>
            <a:r>
              <a:rPr lang="en-US" sz="3200" i="1" dirty="0"/>
              <a:t>      </a:t>
            </a:r>
            <a:r>
              <a:rPr lang="en-US" sz="3200" dirty="0" err="1"/>
              <a:t>Quartan</a:t>
            </a:r>
            <a:r>
              <a:rPr lang="en-US" sz="3200" dirty="0"/>
              <a:t> malaria       No relapse  </a:t>
            </a:r>
            <a:endParaRPr lang="en-US" sz="3200" dirty="0"/>
          </a:p>
          <a:p>
            <a:pPr marL="0" indent="0">
              <a:buNone/>
            </a:pPr>
            <a:r>
              <a:rPr lang="en-US" sz="2800" dirty="0"/>
              <a:t>  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3855"/>
            <a:ext cx="7772400" cy="80803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Antimalarial drugs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" y="838200"/>
            <a:ext cx="8686800" cy="6172200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Therapeutic classification</a:t>
            </a:r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Causal prophylactics (primary tissue </a:t>
            </a:r>
            <a:r>
              <a:rPr lang="en-US" sz="3200" b="1" dirty="0" err="1">
                <a:solidFill>
                  <a:srgbClr val="C00000"/>
                </a:solidFill>
              </a:rPr>
              <a:t>schizonticides</a:t>
            </a:r>
            <a:r>
              <a:rPr lang="en-US" sz="3200" b="1" dirty="0">
                <a:solidFill>
                  <a:srgbClr val="C00000"/>
                </a:solidFill>
              </a:rPr>
              <a:t>) </a:t>
            </a:r>
            <a:r>
              <a:rPr lang="en-US" sz="3200" b="1" dirty="0"/>
              <a:t>– </a:t>
            </a:r>
            <a:r>
              <a:rPr lang="en-US" sz="3200" dirty="0"/>
              <a:t>destroy parasite in liver cells and prevent invasion of erythrocytes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     </a:t>
            </a:r>
            <a:r>
              <a:rPr lang="en-US" sz="3200" b="1"/>
              <a:t>Primaquine                             Proguanil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 </a:t>
            </a:r>
            <a:r>
              <a:rPr lang="en-US" sz="3200" b="1" dirty="0" err="1"/>
              <a:t>Pyrimethamine</a:t>
            </a:r>
            <a:r>
              <a:rPr lang="en-US" sz="3200" b="1" dirty="0"/>
              <a:t>                      Mefloquine  </a:t>
            </a:r>
            <a:endParaRPr lang="en-US" sz="3200" b="1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b="1" dirty="0">
                <a:solidFill>
                  <a:srgbClr val="C00000"/>
                </a:solidFill>
              </a:rPr>
              <a:t>Blood </a:t>
            </a:r>
            <a:r>
              <a:rPr lang="en-US" sz="3200" b="1" dirty="0" err="1">
                <a:solidFill>
                  <a:srgbClr val="C00000"/>
                </a:solidFill>
              </a:rPr>
              <a:t>schizonticides</a:t>
            </a:r>
            <a:r>
              <a:rPr lang="en-US" sz="3200" b="1" dirty="0">
                <a:solidFill>
                  <a:srgbClr val="C00000"/>
                </a:solidFill>
              </a:rPr>
              <a:t> – </a:t>
            </a:r>
            <a:r>
              <a:rPr lang="en-US" sz="3200" dirty="0"/>
              <a:t>destroy parasites in RBCs and terminate clinical attacks of malaria.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      Chloroquine                           </a:t>
            </a:r>
            <a:r>
              <a:rPr lang="en-US" sz="3200" b="1" dirty="0" err="1"/>
              <a:t>Pyrimethamine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  Halofantrine                           Atovaquone 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  </a:t>
            </a:r>
            <a:r>
              <a:rPr lang="en-US" sz="3200" b="1" dirty="0" err="1"/>
              <a:t>Artemisinin</a:t>
            </a:r>
            <a:r>
              <a:rPr lang="en-US" sz="3200" b="1" dirty="0"/>
              <a:t> and derivatives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  Mefloquine </a:t>
            </a:r>
            <a:endParaRPr lang="en-US" sz="3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229600" cy="6172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b="1" dirty="0">
                <a:solidFill>
                  <a:srgbClr val="C00000"/>
                </a:solidFill>
              </a:rPr>
              <a:t>Tissue </a:t>
            </a:r>
            <a:r>
              <a:rPr lang="en-US" sz="3200" b="1" dirty="0" err="1">
                <a:solidFill>
                  <a:srgbClr val="C00000"/>
                </a:solidFill>
              </a:rPr>
              <a:t>schizonticides</a:t>
            </a:r>
            <a:r>
              <a:rPr lang="en-US" sz="3200" b="1" dirty="0">
                <a:solidFill>
                  <a:srgbClr val="C00000"/>
                </a:solidFill>
              </a:rPr>
              <a:t> – </a:t>
            </a:r>
            <a:r>
              <a:rPr lang="en-US" sz="3200" dirty="0"/>
              <a:t>drugs eliminating tissue </a:t>
            </a:r>
            <a:r>
              <a:rPr lang="en-US" sz="3200" dirty="0" err="1"/>
              <a:t>schizonts</a:t>
            </a:r>
            <a:r>
              <a:rPr lang="en-US" sz="3200" dirty="0"/>
              <a:t> or latent </a:t>
            </a:r>
            <a:r>
              <a:rPr lang="en-US" sz="3200" dirty="0" err="1"/>
              <a:t>hypnozites</a:t>
            </a:r>
            <a:r>
              <a:rPr lang="en-US" sz="3200" dirty="0"/>
              <a:t> (hepatic) and prevents relapse.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</a:t>
            </a:r>
            <a:r>
              <a:rPr lang="en-US" sz="3200" b="1" dirty="0"/>
              <a:t>Primaquine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</a:t>
            </a:r>
            <a:r>
              <a:rPr lang="en-US" sz="3200" b="1" dirty="0" err="1"/>
              <a:t>Tafenoquine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4. </a:t>
            </a:r>
            <a:r>
              <a:rPr lang="en-US" sz="3200" b="1" dirty="0">
                <a:solidFill>
                  <a:srgbClr val="C00000"/>
                </a:solidFill>
              </a:rPr>
              <a:t>Gametocidal drugs: </a:t>
            </a:r>
            <a:r>
              <a:rPr lang="en-US" sz="3200" dirty="0"/>
              <a:t>destroy gametocytes and    prevent transmission.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</a:t>
            </a:r>
            <a:r>
              <a:rPr lang="en-US" sz="3200" b="1" dirty="0"/>
              <a:t>Primaquine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Chloroquine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Quinine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7318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Chemical classification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4876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4- </a:t>
            </a:r>
            <a:r>
              <a:rPr lang="en-US" sz="3200" b="1" dirty="0" err="1"/>
              <a:t>aminoquinolines</a:t>
            </a:r>
            <a:r>
              <a:rPr lang="en-US" sz="3200" b="1" dirty="0"/>
              <a:t>: </a:t>
            </a:r>
            <a:r>
              <a:rPr lang="en-US" sz="3200" dirty="0"/>
              <a:t>Chloroquine , </a:t>
            </a:r>
            <a:r>
              <a:rPr lang="en-US" sz="3200" dirty="0" err="1"/>
              <a:t>amodiaquine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8- </a:t>
            </a:r>
            <a:r>
              <a:rPr lang="en-US" sz="3200" b="1" dirty="0" err="1"/>
              <a:t>aminoquinolines</a:t>
            </a:r>
            <a:r>
              <a:rPr lang="en-US" sz="3200" b="1" dirty="0"/>
              <a:t>:  </a:t>
            </a:r>
            <a:r>
              <a:rPr lang="en-US" sz="3200" dirty="0"/>
              <a:t>Primaquine, </a:t>
            </a:r>
            <a:r>
              <a:rPr lang="en-US" sz="3200" dirty="0" err="1"/>
              <a:t>tafenoquine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Quinoline</a:t>
            </a:r>
            <a:r>
              <a:rPr lang="en-US" sz="3200" b="1" dirty="0"/>
              <a:t> </a:t>
            </a:r>
            <a:r>
              <a:rPr lang="en-US" sz="3200" b="1" dirty="0" err="1"/>
              <a:t>methanols</a:t>
            </a:r>
            <a:r>
              <a:rPr lang="en-US" sz="3200" b="1" dirty="0"/>
              <a:t>: </a:t>
            </a:r>
            <a:r>
              <a:rPr lang="en-US" sz="3200" dirty="0"/>
              <a:t>quinine, quinidine, mefloquine 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Sesquiterpene</a:t>
            </a:r>
            <a:r>
              <a:rPr lang="en-US" sz="3200" b="1" dirty="0"/>
              <a:t> lactones: </a:t>
            </a:r>
            <a:r>
              <a:rPr lang="en-US" sz="3200" dirty="0"/>
              <a:t>Artimisinin, </a:t>
            </a:r>
            <a:r>
              <a:rPr lang="en-US" sz="3200" dirty="0" err="1"/>
              <a:t>artesunate</a:t>
            </a:r>
            <a:r>
              <a:rPr lang="en-US" sz="3200" dirty="0"/>
              <a:t>, </a:t>
            </a:r>
            <a:r>
              <a:rPr lang="en-US" sz="3200" dirty="0" err="1"/>
              <a:t>artemether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Folate antagonist: </a:t>
            </a:r>
            <a:r>
              <a:rPr lang="en-US" sz="3200" dirty="0"/>
              <a:t>Proguanil, </a:t>
            </a:r>
            <a:r>
              <a:rPr lang="en-US" sz="3200" dirty="0" err="1"/>
              <a:t>pyrimethamine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229600" cy="541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3200" b="1" dirty="0" err="1"/>
              <a:t>Phenanthrene</a:t>
            </a:r>
            <a:r>
              <a:rPr lang="en-US" sz="3200" b="1" dirty="0"/>
              <a:t> methanol:  </a:t>
            </a:r>
            <a:r>
              <a:rPr lang="en-US" sz="3200" dirty="0"/>
              <a:t>Halofantrine, </a:t>
            </a:r>
            <a:r>
              <a:rPr lang="en-US" sz="3200" dirty="0" err="1"/>
              <a:t>lumefantrine</a:t>
            </a:r>
            <a:endParaRPr lang="en-US" sz="3200" dirty="0"/>
          </a:p>
          <a:p>
            <a:pPr marL="514350" indent="-514350">
              <a:buFont typeface="+mj-lt"/>
              <a:buAutoNum type="arabicPeriod" startAt="6"/>
            </a:pPr>
            <a:r>
              <a:rPr lang="en-US" sz="3200" b="1" dirty="0" err="1"/>
              <a:t>Naphthaquinone</a:t>
            </a:r>
            <a:r>
              <a:rPr lang="en-US" sz="3200" b="1" dirty="0"/>
              <a:t>  : </a:t>
            </a:r>
            <a:r>
              <a:rPr lang="en-US" sz="3200" dirty="0"/>
              <a:t>Atovaquone</a:t>
            </a:r>
            <a:endParaRPr lang="en-US" sz="3200" dirty="0"/>
          </a:p>
          <a:p>
            <a:pPr marL="514350" indent="-514350">
              <a:buFont typeface="+mj-lt"/>
              <a:buAutoNum type="arabicPeriod" startAt="6"/>
            </a:pPr>
            <a:r>
              <a:rPr lang="en-US" sz="3200" b="1" dirty="0"/>
              <a:t>Antibiotics: </a:t>
            </a:r>
            <a:r>
              <a:rPr lang="en-US" sz="3200" dirty="0"/>
              <a:t>Tetracycline, doxycycline, ciprofloxacin, clindamycin, azithromycin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808038"/>
          </a:xfrm>
        </p:spPr>
        <p:txBody>
          <a:bodyPr/>
          <a:lstStyle/>
          <a:p>
            <a:pPr algn="ctr"/>
            <a:r>
              <a:rPr lang="en-US" b="1" dirty="0"/>
              <a:t>Chloroquine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305800" cy="5334000"/>
          </a:xfrm>
        </p:spPr>
        <p:txBody>
          <a:bodyPr>
            <a:normAutofit/>
          </a:bodyPr>
          <a:lstStyle/>
          <a:p>
            <a:r>
              <a:rPr lang="en-US" sz="3200" dirty="0"/>
              <a:t>A synthetic 4- </a:t>
            </a:r>
            <a:r>
              <a:rPr lang="en-US" sz="3200" dirty="0" err="1"/>
              <a:t>aminoquinolines</a:t>
            </a:r>
            <a:endParaRPr lang="en-US" sz="3200" dirty="0"/>
          </a:p>
          <a:p>
            <a:r>
              <a:rPr lang="en-US" sz="3200" b="1" dirty="0"/>
              <a:t>Highly effective </a:t>
            </a:r>
            <a:r>
              <a:rPr lang="en-US" sz="3200" dirty="0"/>
              <a:t>blood schizonticide with activity against all species of plasmodia </a:t>
            </a:r>
            <a:endParaRPr lang="en-US" sz="3200" dirty="0"/>
          </a:p>
          <a:p>
            <a:r>
              <a:rPr lang="en-US" sz="3200" b="1" dirty="0"/>
              <a:t>Rapidly acting- </a:t>
            </a:r>
            <a:r>
              <a:rPr lang="en-US" sz="3200" dirty="0"/>
              <a:t>patients become afebrile in 24-48 hours</a:t>
            </a:r>
            <a:endParaRPr lang="en-US" sz="3200" dirty="0"/>
          </a:p>
          <a:p>
            <a:r>
              <a:rPr lang="en-US" sz="3200" dirty="0"/>
              <a:t>Also destroys gametocytes of </a:t>
            </a:r>
            <a:r>
              <a:rPr lang="en-US" sz="3200" i="1" dirty="0"/>
              <a:t>P. </a:t>
            </a:r>
            <a:r>
              <a:rPr lang="en-US" sz="3200" i="1" dirty="0" err="1"/>
              <a:t>vivax</a:t>
            </a:r>
            <a:r>
              <a:rPr lang="en-US" sz="3200" i="1" dirty="0"/>
              <a:t>, P. </a:t>
            </a:r>
            <a:r>
              <a:rPr lang="en-US" sz="3200" i="1" dirty="0" err="1"/>
              <a:t>ovalae</a:t>
            </a:r>
            <a:r>
              <a:rPr lang="en-US" sz="3200" i="1" dirty="0"/>
              <a:t> </a:t>
            </a:r>
            <a:r>
              <a:rPr lang="en-US" sz="3200" dirty="0"/>
              <a:t>and </a:t>
            </a:r>
            <a:r>
              <a:rPr lang="en-US" sz="3200" i="1" dirty="0"/>
              <a:t>P. </a:t>
            </a:r>
            <a:r>
              <a:rPr lang="en-US" sz="3200" i="1" dirty="0" err="1"/>
              <a:t>malariae</a:t>
            </a:r>
            <a:r>
              <a:rPr lang="en-US" sz="3200" i="1" dirty="0"/>
              <a:t>.</a:t>
            </a:r>
            <a:endParaRPr lang="en-US" sz="3200" i="1" dirty="0"/>
          </a:p>
          <a:p>
            <a:r>
              <a:rPr lang="en-US" sz="3200" dirty="0"/>
              <a:t>Safe in </a:t>
            </a:r>
            <a:r>
              <a:rPr lang="en-US" sz="3200" b="1" dirty="0"/>
              <a:t>pregnancy</a:t>
            </a:r>
            <a:endParaRPr lang="en-US" sz="3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82"/>
            <a:ext cx="7772400" cy="88423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Pharmacokinetics of Chloroquine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077200" cy="5638800"/>
          </a:xfrm>
        </p:spPr>
        <p:txBody>
          <a:bodyPr>
            <a:noAutofit/>
          </a:bodyPr>
          <a:lstStyle/>
          <a:p>
            <a:r>
              <a:rPr lang="en-US" sz="3200" dirty="0"/>
              <a:t>Route: oral, parenteral</a:t>
            </a:r>
            <a:endParaRPr lang="en-US" sz="3200" dirty="0"/>
          </a:p>
          <a:p>
            <a:r>
              <a:rPr lang="en-US" sz="3200" dirty="0"/>
              <a:t>Absorption: rapid, complete from GIT</a:t>
            </a:r>
            <a:endParaRPr lang="en-US" sz="3200" dirty="0"/>
          </a:p>
          <a:p>
            <a:r>
              <a:rPr lang="en-US" sz="3200" dirty="0"/>
              <a:t>Distribution: </a:t>
            </a:r>
            <a:r>
              <a:rPr lang="en-US" sz="3200" b="1" dirty="0"/>
              <a:t>large volume </a:t>
            </a:r>
            <a:r>
              <a:rPr lang="en-US" sz="3200" dirty="0"/>
              <a:t>of distribution, 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extensive tissue binding (</a:t>
            </a:r>
            <a:r>
              <a:rPr lang="en-US" sz="3200" b="1" dirty="0"/>
              <a:t>heart, </a:t>
            </a:r>
            <a:r>
              <a:rPr lang="en-US" sz="3200" dirty="0"/>
              <a:t>kidney, liver, spleen, </a:t>
            </a:r>
            <a:r>
              <a:rPr lang="en-US" sz="3200" b="1" dirty="0"/>
              <a:t>retina, </a:t>
            </a:r>
            <a:r>
              <a:rPr lang="en-US" sz="3200" dirty="0"/>
              <a:t>cornea)    </a:t>
            </a:r>
            <a:endParaRPr lang="en-US" sz="3200" dirty="0"/>
          </a:p>
          <a:p>
            <a:r>
              <a:rPr lang="en-US" sz="3200" dirty="0"/>
              <a:t>Metabolism : liver ( metabolite have antimalarial activity)</a:t>
            </a:r>
            <a:endParaRPr lang="en-US" sz="3200" dirty="0"/>
          </a:p>
          <a:p>
            <a:r>
              <a:rPr lang="en-US" sz="3200" dirty="0"/>
              <a:t>Excretion: urine</a:t>
            </a:r>
            <a:endParaRPr lang="en-US" sz="3200" dirty="0"/>
          </a:p>
          <a:p>
            <a:r>
              <a:rPr lang="en-US" sz="3200" dirty="0"/>
              <a:t>Plasma half life: 3-5 days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886"/>
            <a:ext cx="7772400" cy="7318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Antimalarial actions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305800" cy="5334000"/>
          </a:xfrm>
        </p:spPr>
        <p:txBody>
          <a:bodyPr>
            <a:normAutofit/>
          </a:bodyPr>
          <a:lstStyle/>
          <a:p>
            <a:r>
              <a:rPr lang="en-US" sz="3200" dirty="0"/>
              <a:t>Malarial parasite digest the host haemoglobin  (which is their source of amino acids)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Transport it into their acidic food vacuoles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 toxic product </a:t>
            </a:r>
            <a:r>
              <a:rPr lang="en-US" sz="3200" b="1" dirty="0"/>
              <a:t>“haeme” </a:t>
            </a:r>
            <a:r>
              <a:rPr lang="en-US" sz="3200" dirty="0"/>
              <a:t>is formed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               haeme polymerase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This </a:t>
            </a:r>
            <a:r>
              <a:rPr lang="en-US" sz="3200" b="1" dirty="0"/>
              <a:t>haeme </a:t>
            </a:r>
            <a:r>
              <a:rPr lang="en-US" sz="3200" dirty="0"/>
              <a:t>is converted to nontoxic </a:t>
            </a:r>
            <a:r>
              <a:rPr lang="en-US" sz="3200" b="1" dirty="0" err="1"/>
              <a:t>haemozoin</a:t>
            </a:r>
            <a:r>
              <a:rPr lang="en-US" sz="3200" dirty="0"/>
              <a:t>, a malarial pigment</a:t>
            </a:r>
            <a:endParaRPr lang="en-US" sz="32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488872" y="21336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488872" y="44196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488872" y="32766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7318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Antimalarial actions…..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56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                                Chloroquine</a:t>
            </a:r>
            <a:endParaRPr lang="en-US" sz="3200" b="1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Enters in erythrocytes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Taken up by the parasite by specific uptake mechanism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Enters in acidic food vacuole of the parasite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Inhibits </a:t>
            </a:r>
            <a:r>
              <a:rPr lang="en-US" sz="3200" dirty="0" err="1"/>
              <a:t>heme</a:t>
            </a:r>
            <a:r>
              <a:rPr lang="en-US" sz="3200" dirty="0"/>
              <a:t> polymerase</a:t>
            </a:r>
            <a:endParaRPr lang="en-US" sz="32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461162" y="16002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461162" y="27432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461162" y="3956957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75016" y="50292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              Accumulation of toxic </a:t>
            </a:r>
            <a:r>
              <a:rPr lang="en-US" sz="3200" dirty="0" err="1"/>
              <a:t>heme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Parasite membrane </a:t>
            </a:r>
            <a:r>
              <a:rPr lang="en-US" sz="3200" dirty="0" err="1"/>
              <a:t>lysis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Death of parasite</a:t>
            </a:r>
            <a:endParaRPr lang="en-US" sz="3200" dirty="0"/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191000" y="34290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191000" y="2218509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Other actions of Chloroquine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229600" cy="5334000"/>
          </a:xfrm>
        </p:spPr>
        <p:txBody>
          <a:bodyPr/>
          <a:lstStyle/>
          <a:p>
            <a:r>
              <a:rPr lang="en-US" sz="3200" dirty="0"/>
              <a:t>Chloroquine has activity against </a:t>
            </a:r>
            <a:r>
              <a:rPr lang="en-US" sz="3200" i="1" dirty="0"/>
              <a:t>Giardia </a:t>
            </a:r>
            <a:r>
              <a:rPr lang="en-US" sz="3200" i="1" dirty="0" err="1"/>
              <a:t>lamblia</a:t>
            </a:r>
            <a:r>
              <a:rPr lang="en-US" sz="3200" i="1" dirty="0"/>
              <a:t> </a:t>
            </a:r>
            <a:r>
              <a:rPr lang="en-US" sz="3200" dirty="0"/>
              <a:t>and </a:t>
            </a:r>
            <a:r>
              <a:rPr lang="en-US" sz="3200" i="1" dirty="0" err="1"/>
              <a:t>Entamoeba</a:t>
            </a:r>
            <a:r>
              <a:rPr lang="en-US" sz="3200" i="1" dirty="0"/>
              <a:t> </a:t>
            </a:r>
            <a:r>
              <a:rPr lang="en-US" sz="3200" i="1" dirty="0" err="1"/>
              <a:t>histolytica</a:t>
            </a:r>
            <a:r>
              <a:rPr lang="en-US" sz="3200" i="1" dirty="0"/>
              <a:t>. </a:t>
            </a:r>
            <a:r>
              <a:rPr lang="en-US" sz="3200" dirty="0"/>
              <a:t>It attains high concentration in the liver and is useful in </a:t>
            </a:r>
            <a:r>
              <a:rPr lang="en-US" sz="3200" b="1" dirty="0"/>
              <a:t>hepatic amoebiasis.</a:t>
            </a:r>
            <a:endParaRPr lang="en-US" sz="3200" b="1" dirty="0"/>
          </a:p>
          <a:p>
            <a:r>
              <a:rPr lang="en-US" sz="3200" dirty="0"/>
              <a:t>Chloroquine has </a:t>
            </a:r>
            <a:r>
              <a:rPr lang="en-US" sz="3200" b="1" dirty="0"/>
              <a:t>local anesthetic effect</a:t>
            </a:r>
            <a:r>
              <a:rPr lang="en-US" sz="3200" dirty="0"/>
              <a:t>.</a:t>
            </a:r>
            <a:endParaRPr lang="en-US" sz="3200" dirty="0"/>
          </a:p>
          <a:p>
            <a:r>
              <a:rPr lang="en-US" sz="3200" dirty="0"/>
              <a:t>It has also </a:t>
            </a:r>
            <a:r>
              <a:rPr lang="en-US" sz="3200" b="1" dirty="0"/>
              <a:t>anti-inflammatory</a:t>
            </a:r>
            <a:r>
              <a:rPr lang="en-US" sz="3200" dirty="0"/>
              <a:t> properties because of which it is used in </a:t>
            </a:r>
            <a:r>
              <a:rPr lang="en-US" sz="3200" b="1" dirty="0"/>
              <a:t>rheumatoid arthritis </a:t>
            </a:r>
            <a:r>
              <a:rPr lang="en-US" sz="3200" dirty="0"/>
              <a:t>as a disease modifying </a:t>
            </a:r>
            <a:r>
              <a:rPr lang="en-US" sz="3200" dirty="0" err="1"/>
              <a:t>antirheumatic</a:t>
            </a:r>
            <a:r>
              <a:rPr lang="en-US" sz="3200" dirty="0"/>
              <a:t> agent</a:t>
            </a:r>
            <a:r>
              <a:rPr lang="en-US" sz="2400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808038"/>
          </a:xfrm>
        </p:spPr>
        <p:txBody>
          <a:bodyPr/>
          <a:lstStyle/>
          <a:p>
            <a:r>
              <a:rPr lang="en-US" b="1" dirty="0"/>
              <a:t>Indication/use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49530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Malaria- highly effective against sensitive strains of all 4 species.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 err="1"/>
              <a:t>Extraintestinal</a:t>
            </a:r>
            <a:r>
              <a:rPr lang="en-US" sz="3200" dirty="0"/>
              <a:t> amoebiasis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Rheumatoid arthritis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 err="1"/>
              <a:t>Lepra</a:t>
            </a:r>
            <a:r>
              <a:rPr lang="en-US" sz="3200" dirty="0"/>
              <a:t> reactions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Discoid lupus </a:t>
            </a:r>
            <a:r>
              <a:rPr lang="en-US" sz="3200" dirty="0" err="1"/>
              <a:t>erythematosus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Infectious </a:t>
            </a:r>
            <a:r>
              <a:rPr lang="en-US" sz="3200" dirty="0" err="1"/>
              <a:t>mononeucleosis</a:t>
            </a:r>
            <a:r>
              <a:rPr lang="en-US" sz="3200" dirty="0"/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7772400" cy="655638"/>
          </a:xfrm>
        </p:spPr>
        <p:txBody>
          <a:bodyPr>
            <a:normAutofit/>
          </a:bodyPr>
          <a:lstStyle/>
          <a:p>
            <a:r>
              <a:rPr lang="en-US" sz="3200" b="1" dirty="0"/>
              <a:t>Adverse effects of Chloroquine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229600" cy="54864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Nausea, vomiting- if severe ,before 30 min </a:t>
            </a:r>
            <a:r>
              <a:rPr lang="en-US" sz="3200" dirty="0" err="1"/>
              <a:t>antiemetics</a:t>
            </a:r>
            <a:r>
              <a:rPr lang="en-US" sz="3200" dirty="0"/>
              <a:t> should be given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Pruritus, skin rashes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Headache, visual disturbances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IV </a:t>
            </a:r>
            <a:r>
              <a:rPr lang="en-US" sz="3200" b="1" dirty="0"/>
              <a:t>Chloroquine- </a:t>
            </a:r>
            <a:r>
              <a:rPr lang="en-US" sz="3200" dirty="0"/>
              <a:t> causes hypotension,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widening of QRS complex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arrhythmia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respiratory and cardiac arrest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( hence parenteral </a:t>
            </a:r>
            <a:r>
              <a:rPr lang="en-US" sz="3200" b="1" dirty="0"/>
              <a:t>Chloroquine is avoided)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r>
              <a:rPr lang="en-US" b="1" dirty="0"/>
              <a:t>Adverse effects </a:t>
            </a:r>
            <a:r>
              <a:rPr lang="en-US" b="1" dirty="0" err="1"/>
              <a:t>cont</a:t>
            </a:r>
            <a:r>
              <a:rPr lang="en-US" b="1" dirty="0"/>
              <a:t>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3200" dirty="0"/>
              <a:t>High dose– cardiomyopathy, peripheral neuropathy, ototoxicity, convulsions</a:t>
            </a:r>
            <a:endParaRPr lang="en-US" sz="3200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3200" dirty="0"/>
              <a:t>Long term suppressive therapy- blurring of vision, confusion, bleaching of hair, rarely blood dyscrasias</a:t>
            </a:r>
            <a:endParaRPr lang="en-US" sz="3200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3200" dirty="0"/>
              <a:t>Prolonged treatment with high dose- </a:t>
            </a:r>
            <a:r>
              <a:rPr lang="en-US" sz="3200" b="1" dirty="0"/>
              <a:t>irreversible retinopathy </a:t>
            </a:r>
            <a:r>
              <a:rPr lang="en-US" sz="3200" dirty="0"/>
              <a:t>and can result in </a:t>
            </a:r>
            <a:r>
              <a:rPr lang="en-US" sz="3200" b="1" dirty="0"/>
              <a:t>blindness </a:t>
            </a:r>
            <a:r>
              <a:rPr lang="en-US" sz="3200" dirty="0"/>
              <a:t>(as chloroquine accumulates in retina).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88423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Contraindications  of Chloroquine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772400" cy="4419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Psoriasis and porphyria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Hepatic, gastrointestinal or neurological disorders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Myopathy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Retinal disease ( long time administration in high doses require regular neurological and eye examination).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655638"/>
          </a:xfrm>
        </p:spPr>
        <p:txBody>
          <a:bodyPr>
            <a:normAutofit/>
          </a:bodyPr>
          <a:lstStyle/>
          <a:p>
            <a:r>
              <a:rPr lang="en-US" sz="3200" b="1" dirty="0"/>
              <a:t>Precautions/drug interactions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305800" cy="53340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Parenteral administration should be avoided but when required should be given as a slow infusion.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Chloroquine + gold/d-</a:t>
            </a:r>
            <a:r>
              <a:rPr lang="en-US" sz="3200" dirty="0" err="1"/>
              <a:t>penicillamine</a:t>
            </a:r>
            <a:r>
              <a:rPr lang="en-US" sz="3200" dirty="0"/>
              <a:t>            severe dermatitis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Chloroquine + quinine/</a:t>
            </a:r>
            <a:r>
              <a:rPr lang="en-US" sz="3200" dirty="0" err="1"/>
              <a:t>mefloquine</a:t>
            </a:r>
            <a:r>
              <a:rPr lang="en-US" sz="3200" dirty="0"/>
              <a:t>           therapeutic failure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(they compete for accumulation in the parasite resulting therapeutic failure)</a:t>
            </a:r>
            <a:endParaRPr lang="en-US" sz="3200" dirty="0"/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sym typeface="+mn-ea"/>
              </a:rPr>
              <a:t>Following parenteral administration, toxic conc. may be attained in plasma in a very short time 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736080" y="31242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6736080" y="4191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533400"/>
            <a:ext cx="8077200" cy="6172200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Chloroquine + mefloquine              increase the risk of seizure</a:t>
            </a:r>
            <a:endParaRPr lang="en-US" sz="32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Chloroquine + halofantrine          increase the risk of arrhythmia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hence, </a:t>
            </a:r>
            <a:r>
              <a:rPr lang="en-US" sz="3200" b="1" dirty="0"/>
              <a:t>a gap of at least 12 hours </a:t>
            </a:r>
            <a:r>
              <a:rPr lang="en-US" sz="3200" dirty="0"/>
              <a:t>should be given, if pts. have to be switched over from chloroquine to quinine/ mefloquine/ halofantrine</a:t>
            </a:r>
            <a:endParaRPr lang="en-US" sz="32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Magnesium containing antacids and kaolin            interfere with the absorption chloroquine </a:t>
            </a:r>
            <a:endParaRPr lang="en-US" sz="3200" dirty="0"/>
          </a:p>
          <a:p>
            <a:endParaRPr lang="en-US" sz="32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410200" y="9144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5410200" y="1905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8003177" y="50292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808038"/>
          </a:xfrm>
        </p:spPr>
        <p:txBody>
          <a:bodyPr/>
          <a:lstStyle/>
          <a:p>
            <a:pPr algn="ctr"/>
            <a:r>
              <a:rPr lang="en-US" b="1" u="sng" dirty="0"/>
              <a:t>Quinine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05800" cy="5562600"/>
          </a:xfrm>
        </p:spPr>
        <p:txBody>
          <a:bodyPr>
            <a:normAutofit/>
          </a:bodyPr>
          <a:lstStyle/>
          <a:p>
            <a:r>
              <a:rPr lang="en-US" sz="3200" dirty="0"/>
              <a:t>An </a:t>
            </a:r>
            <a:r>
              <a:rPr lang="en-US" sz="3200" b="1" dirty="0"/>
              <a:t>alkaloid</a:t>
            </a:r>
            <a:r>
              <a:rPr lang="en-US" sz="3200" dirty="0"/>
              <a:t> obtained from bark of cinchona tree</a:t>
            </a:r>
            <a:endParaRPr lang="en-US" sz="3200" dirty="0"/>
          </a:p>
          <a:p>
            <a:r>
              <a:rPr lang="en-US" sz="3200" dirty="0"/>
              <a:t>Destroys </a:t>
            </a:r>
            <a:r>
              <a:rPr lang="en-US" sz="3200" b="1" dirty="0"/>
              <a:t>erythrocytic</a:t>
            </a:r>
            <a:r>
              <a:rPr lang="en-US" sz="3200" dirty="0"/>
              <a:t> forms of the parasite similar to chloroquine</a:t>
            </a:r>
            <a:endParaRPr lang="en-US" sz="3200" dirty="0"/>
          </a:p>
          <a:p>
            <a:r>
              <a:rPr lang="en-US" sz="3200" dirty="0"/>
              <a:t>Rapidly acting and is often </a:t>
            </a:r>
            <a:r>
              <a:rPr lang="en-US" sz="3200" b="1" dirty="0"/>
              <a:t>effective even in chloroquine-resistant strains of </a:t>
            </a:r>
            <a:r>
              <a:rPr lang="en-US" sz="3200" b="1" i="1" dirty="0"/>
              <a:t>P. falciparum</a:t>
            </a:r>
            <a:endParaRPr lang="en-US" sz="3200" b="1" i="1" dirty="0"/>
          </a:p>
          <a:p>
            <a:r>
              <a:rPr lang="en-US" sz="3200" dirty="0"/>
              <a:t>Also gametocidal for three species of the malarial parasite except </a:t>
            </a:r>
            <a:r>
              <a:rPr lang="en-US" sz="3200" i="1" dirty="0"/>
              <a:t>P. falciparum</a:t>
            </a:r>
            <a:endParaRPr lang="en-US" sz="3200" i="1" dirty="0"/>
          </a:p>
          <a:p>
            <a:r>
              <a:rPr lang="en-US" sz="3200" dirty="0"/>
              <a:t>Quinidine, the d-isomer of quinine, can be used in place of quinine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7318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Pharmacokinetics of Quinine</a:t>
            </a: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80010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Rapid well absorption after</a:t>
            </a:r>
            <a:r>
              <a:rPr lang="en-US" sz="3200" b="1" dirty="0"/>
              <a:t> oral </a:t>
            </a:r>
            <a:r>
              <a:rPr lang="en-US" sz="3200" dirty="0"/>
              <a:t>administration</a:t>
            </a:r>
            <a:endParaRPr lang="en-US" sz="3200" dirty="0"/>
          </a:p>
          <a:p>
            <a:r>
              <a:rPr lang="en-US" sz="3200" b="1" dirty="0"/>
              <a:t>Widely distributed </a:t>
            </a:r>
            <a:r>
              <a:rPr lang="en-US" sz="3200" dirty="0"/>
              <a:t>in body tissues</a:t>
            </a:r>
            <a:endParaRPr lang="en-US" sz="3200" dirty="0"/>
          </a:p>
          <a:p>
            <a:r>
              <a:rPr lang="en-US" sz="3200" b="1" dirty="0"/>
              <a:t>Long half life </a:t>
            </a:r>
            <a:r>
              <a:rPr lang="en-US" sz="3200" dirty="0"/>
              <a:t>because of increased protein binding (</a:t>
            </a:r>
            <a:r>
              <a:rPr lang="en-US" sz="3200" b="1" dirty="0"/>
              <a:t>to alpha 1 acid glycoprotein</a:t>
            </a:r>
            <a:r>
              <a:rPr lang="en-US" sz="3200" dirty="0"/>
              <a:t>) </a:t>
            </a:r>
            <a:endParaRPr lang="en-US" sz="3200" dirty="0"/>
          </a:p>
          <a:p>
            <a:r>
              <a:rPr lang="en-US" sz="3200" dirty="0"/>
              <a:t>Metabolism: liver</a:t>
            </a:r>
            <a:endParaRPr lang="en-US" sz="3200" dirty="0"/>
          </a:p>
          <a:p>
            <a:r>
              <a:rPr lang="en-US" sz="3200" dirty="0"/>
              <a:t>Excretion : urine</a:t>
            </a:r>
            <a:endParaRPr lang="en-US" sz="3200" dirty="0"/>
          </a:p>
          <a:p>
            <a:r>
              <a:rPr lang="en-US" sz="3200" dirty="0"/>
              <a:t>Dose: 600mg TDS for 3-7 days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7772400" cy="8080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Antimalarial actions of quinine/quinidine</a:t>
            </a: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7772400" cy="4114800"/>
          </a:xfrm>
        </p:spPr>
        <p:txBody>
          <a:bodyPr/>
          <a:lstStyle/>
          <a:p>
            <a:r>
              <a:rPr lang="en-US" sz="3200" dirty="0"/>
              <a:t>Mechanism of action is not exactly known</a:t>
            </a:r>
            <a:endParaRPr lang="en-US" sz="3200" dirty="0"/>
          </a:p>
          <a:p>
            <a:r>
              <a:rPr lang="en-US" sz="3200" dirty="0"/>
              <a:t>May act like chloroquine by inhibiting the enzyme haeme polymerase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772400" cy="8080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Pharmacological effects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153400" cy="5486400"/>
          </a:xfrm>
        </p:spPr>
        <p:txBody>
          <a:bodyPr>
            <a:normAutofit/>
          </a:bodyPr>
          <a:lstStyle/>
          <a:p>
            <a:r>
              <a:rPr lang="en-US" sz="3200" dirty="0"/>
              <a:t>Antimalarial action</a:t>
            </a:r>
            <a:endParaRPr lang="en-US" sz="3200" dirty="0"/>
          </a:p>
          <a:p>
            <a:r>
              <a:rPr lang="en-US" sz="3200" dirty="0"/>
              <a:t>Mild analgesic and antipyretic property</a:t>
            </a:r>
            <a:endParaRPr lang="en-US" sz="3200" dirty="0"/>
          </a:p>
          <a:p>
            <a:r>
              <a:rPr lang="en-US" sz="3200" dirty="0"/>
              <a:t>Myocardial depressant– </a:t>
            </a:r>
            <a:r>
              <a:rPr lang="en-US" sz="3200" b="1" dirty="0"/>
              <a:t>IV administration </a:t>
            </a:r>
            <a:r>
              <a:rPr lang="en-US" sz="3200" dirty="0"/>
              <a:t>can cause significant hypotension</a:t>
            </a:r>
            <a:endParaRPr lang="en-US" sz="3200" dirty="0"/>
          </a:p>
          <a:p>
            <a:r>
              <a:rPr lang="en-US" sz="3200" dirty="0"/>
              <a:t>Local anesthetic properties (sodium channel blocker)</a:t>
            </a:r>
            <a:endParaRPr lang="en-US" sz="3200" dirty="0"/>
          </a:p>
          <a:p>
            <a:r>
              <a:rPr lang="en-US" sz="3200" dirty="0"/>
              <a:t>Skeletal muscle relaxant effect</a:t>
            </a:r>
            <a:endParaRPr lang="en-US" sz="3200" dirty="0"/>
          </a:p>
          <a:p>
            <a:r>
              <a:rPr lang="en-US" sz="3200" dirty="0"/>
              <a:t>Stimulates the uterus and is an </a:t>
            </a:r>
            <a:r>
              <a:rPr lang="en-US" sz="3200" b="1" dirty="0" err="1"/>
              <a:t>abortifacient</a:t>
            </a:r>
            <a:endParaRPr lang="en-US" sz="32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731838"/>
          </a:xfrm>
        </p:spPr>
        <p:txBody>
          <a:bodyPr>
            <a:normAutofit/>
          </a:bodyPr>
          <a:lstStyle/>
          <a:p>
            <a:r>
              <a:rPr lang="en-US" sz="3200" b="1" dirty="0"/>
              <a:t>Indication of quinine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7772400" cy="5638800"/>
          </a:xfrm>
        </p:spPr>
        <p:txBody>
          <a:bodyPr>
            <a:normAutofit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Malaria : a. uncomplicated falciparum malaria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b. complicated falciparum malaria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c. cerebral malaria</a:t>
            </a:r>
            <a:endParaRPr lang="en-US" sz="32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dirty="0" err="1"/>
              <a:t>Babesiosis</a:t>
            </a:r>
            <a:r>
              <a:rPr lang="en-US" sz="3200" dirty="0"/>
              <a:t>- combination of quinine and clindamycin is the first line treatment</a:t>
            </a:r>
            <a:endParaRPr lang="en-US" sz="32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Muscle cramps: nocturnal muscle cramps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  myotonia congenita</a:t>
            </a:r>
            <a:endParaRPr lang="en-US" sz="32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As anti-epileptic drugs</a:t>
            </a:r>
            <a:endParaRPr lang="en-US" sz="3200" dirty="0"/>
          </a:p>
          <a:p>
            <a:pPr marL="0" indent="0">
              <a:buFont typeface="+mj-lt"/>
              <a:buNone/>
            </a:pPr>
            <a:r>
              <a:rPr lang="en-US" sz="3200" dirty="0" err="1">
                <a:solidFill>
                  <a:srgbClr val="FF0000"/>
                </a:solidFill>
                <a:sym typeface="+mn-ea"/>
              </a:rPr>
              <a:t>Babesiosis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 is a disease infected </a:t>
            </a:r>
            <a:r>
              <a:rPr lang="en-US" sz="3200" dirty="0" err="1">
                <a:solidFill>
                  <a:srgbClr val="FF0000"/>
                </a:solidFill>
                <a:sym typeface="+mn-ea"/>
              </a:rPr>
              <a:t>frm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 the bite f a tick infected with the parasite Babesia….causes flu like syndrome.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Font typeface="+mj-lt"/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Adverse effects of quinine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153400" cy="54864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Highly bitter and </a:t>
            </a:r>
            <a:r>
              <a:rPr lang="en-US" sz="3200" b="1" dirty="0"/>
              <a:t>gastric irritant</a:t>
            </a:r>
            <a:r>
              <a:rPr lang="en-US" sz="3200" dirty="0"/>
              <a:t>– causes nausea, vomiting and epigastric pain— so, poorly tolerated</a:t>
            </a:r>
            <a:endParaRPr lang="en-US" sz="32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Hypoglycemia- result in coma. Cause are: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a. quinine stimulates the pancreatic beta cells to release insulin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b. parasite consumes glucose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c. decrease in food intake due to malaria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8458200" cy="6019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CNS disturbances: </a:t>
            </a:r>
            <a:r>
              <a:rPr lang="en-US" sz="3200" dirty="0" err="1"/>
              <a:t>cinconism</a:t>
            </a:r>
            <a:r>
              <a:rPr lang="en-US" sz="3200" dirty="0"/>
              <a:t> –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ataxia                              nausea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tinnitus                           headache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color blindness               dizziness</a:t>
            </a:r>
            <a:endParaRPr lang="en-US" sz="32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Cardiotoxicity: profound hypotension (</a:t>
            </a:r>
            <a:r>
              <a:rPr lang="en-US" sz="3200" b="1" dirty="0"/>
              <a:t>IV rapidly</a:t>
            </a:r>
            <a:r>
              <a:rPr lang="en-US" sz="3200" dirty="0"/>
              <a:t>)</a:t>
            </a:r>
            <a:endParaRPr lang="en-US" sz="3200" dirty="0"/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sz="3200" dirty="0"/>
              <a:t>widening of QRS complex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AV block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arrhythmia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41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3200" dirty="0"/>
              <a:t>Allergic reactions: 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1. Black water fever (uncommon but fatal): quinine can precipitate acute </a:t>
            </a:r>
            <a:r>
              <a:rPr lang="en-US" sz="3200" dirty="0" err="1"/>
              <a:t>haemolytic</a:t>
            </a:r>
            <a:r>
              <a:rPr lang="en-US" sz="3200" dirty="0"/>
              <a:t> anaemia with renal failure , </a:t>
            </a:r>
            <a:r>
              <a:rPr lang="en-US" sz="3200" dirty="0" err="1"/>
              <a:t>haemogloinuria</a:t>
            </a:r>
            <a:r>
              <a:rPr lang="en-US" sz="3200" dirty="0"/>
              <a:t> and fever. It is thought to be a hypersensitivity reaction.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2. Skin rashes, urticaria and angioedema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7772400" cy="655638"/>
          </a:xfrm>
        </p:spPr>
        <p:txBody>
          <a:bodyPr>
            <a:normAutofit/>
          </a:bodyPr>
          <a:lstStyle/>
          <a:p>
            <a:r>
              <a:rPr lang="en-US" sz="3200" b="1" dirty="0"/>
              <a:t>Contraindication of quinine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953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Visual/auditory problems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Cardiac arrhythmia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Concurrent use with mefloquine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Renal insufficiency (must reduce the dose)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Should be stopped in case of signs of severe </a:t>
            </a:r>
            <a:r>
              <a:rPr lang="en-US" sz="3200" dirty="0" err="1"/>
              <a:t>cinchonism</a:t>
            </a:r>
            <a:r>
              <a:rPr lang="en-US" sz="3200" dirty="0"/>
              <a:t>, hemolysis and hypersensitivity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772400" cy="7318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Precautions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76200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Quinine should </a:t>
            </a:r>
            <a:r>
              <a:rPr lang="en-US" sz="3200" b="1" dirty="0"/>
              <a:t>preferably be given orally.</a:t>
            </a:r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    But in situations where it needs to be given parenterally, </a:t>
            </a:r>
            <a:r>
              <a:rPr lang="en-US" sz="3200" b="1" dirty="0"/>
              <a:t>adequate monitoring of cardiac function </a:t>
            </a:r>
            <a:r>
              <a:rPr lang="en-US" sz="3200" dirty="0"/>
              <a:t>is needed.</a:t>
            </a:r>
            <a:endParaRPr lang="en-US" sz="32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Hypoglycemia should be watched for– adequate glucose supplementation should be given.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Precautions </a:t>
            </a:r>
            <a:r>
              <a:rPr lang="en-US" sz="3600" b="1" dirty="0" err="1"/>
              <a:t>cont</a:t>
            </a:r>
            <a:r>
              <a:rPr lang="en-US" sz="3600" b="1" dirty="0"/>
              <a:t>……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Quinine should never be combined with mefloquinine for the risk of </a:t>
            </a:r>
            <a:r>
              <a:rPr lang="en-US" sz="3200" dirty="0" err="1"/>
              <a:t>cardiotoxicity</a:t>
            </a:r>
            <a:r>
              <a:rPr lang="en-US" sz="3200" dirty="0"/>
              <a:t>.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If the patient has received mefloquinine earlier (even up to 20-30 days) and if quinine is needed, it should be used with great caution.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7318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Mefloquine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153400" cy="5029200"/>
          </a:xfrm>
        </p:spPr>
        <p:txBody>
          <a:bodyPr>
            <a:normAutofit/>
          </a:bodyPr>
          <a:lstStyle/>
          <a:p>
            <a:r>
              <a:rPr lang="en-US" sz="3200" dirty="0"/>
              <a:t>A </a:t>
            </a:r>
            <a:r>
              <a:rPr lang="en-US" sz="3200" dirty="0" err="1"/>
              <a:t>quinoline</a:t>
            </a:r>
            <a:r>
              <a:rPr lang="en-US" sz="3200" dirty="0"/>
              <a:t> methanol</a:t>
            </a:r>
            <a:endParaRPr lang="en-US" sz="3200" dirty="0"/>
          </a:p>
          <a:p>
            <a:r>
              <a:rPr lang="en-US" sz="3200" dirty="0"/>
              <a:t>A single dose is </a:t>
            </a:r>
            <a:r>
              <a:rPr lang="en-US" sz="3200" b="1" dirty="0"/>
              <a:t>highly effective </a:t>
            </a:r>
            <a:r>
              <a:rPr lang="en-US" sz="3200" dirty="0"/>
              <a:t>against</a:t>
            </a:r>
            <a:r>
              <a:rPr lang="en-US" sz="3200" b="1" dirty="0"/>
              <a:t> erythrocytic </a:t>
            </a:r>
            <a:r>
              <a:rPr lang="en-US" sz="3200" dirty="0"/>
              <a:t>forms of the malarial parasite including the multi-drug-resistant (MDR) strains of </a:t>
            </a:r>
            <a:r>
              <a:rPr lang="en-US" sz="3200" i="1" dirty="0"/>
              <a:t>P. falciparum</a:t>
            </a:r>
            <a:endParaRPr lang="en-US" sz="3200" i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7318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Pharmacokinetics of Mefloquine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Well absorbed when given orally</a:t>
            </a:r>
            <a:endParaRPr lang="en-US" sz="3200" dirty="0"/>
          </a:p>
          <a:p>
            <a:r>
              <a:rPr lang="en-US" sz="3200" dirty="0"/>
              <a:t>Not given parenterally --as it causes severe local irritation at the site</a:t>
            </a:r>
            <a:endParaRPr lang="en-US" sz="3200" dirty="0"/>
          </a:p>
          <a:p>
            <a:r>
              <a:rPr lang="en-US" sz="3200" dirty="0"/>
              <a:t>Has a </a:t>
            </a:r>
            <a:r>
              <a:rPr lang="en-US" sz="3200" b="1" dirty="0"/>
              <a:t>long t1/2 </a:t>
            </a:r>
            <a:r>
              <a:rPr lang="en-US" sz="3200" dirty="0"/>
              <a:t>(nearly 20-30 days)- as it undergoes extensive enterohepatic circulation</a:t>
            </a:r>
            <a:endParaRPr lang="en-US" sz="3200" dirty="0"/>
          </a:p>
          <a:p>
            <a:r>
              <a:rPr lang="en-US" sz="3200" dirty="0"/>
              <a:t>Excreted through the</a:t>
            </a:r>
            <a:r>
              <a:rPr lang="en-US" sz="3200" b="1" dirty="0"/>
              <a:t> gut </a:t>
            </a:r>
            <a:endParaRPr lang="en-US" sz="3200" b="1" dirty="0"/>
          </a:p>
          <a:p>
            <a:r>
              <a:rPr lang="en-US" sz="3200" b="1" dirty="0"/>
              <a:t>Dose: </a:t>
            </a:r>
            <a:r>
              <a:rPr lang="en-US" sz="3200" dirty="0"/>
              <a:t>20 mg/kg single dose or in 2 divided dose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731838"/>
          </a:xfrm>
        </p:spPr>
        <p:txBody>
          <a:bodyPr>
            <a:normAutofit/>
          </a:bodyPr>
          <a:lstStyle/>
          <a:p>
            <a:r>
              <a:rPr lang="en-US" sz="3200" b="1" dirty="0"/>
              <a:t>Mechanism of action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Exactly not known but it is thought to act like chloroquine by inhibiting </a:t>
            </a:r>
            <a:r>
              <a:rPr lang="en-US" sz="3200" dirty="0" err="1"/>
              <a:t>heme</a:t>
            </a:r>
            <a:r>
              <a:rPr lang="en-US" sz="3200" dirty="0"/>
              <a:t> polymerase.</a:t>
            </a:r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884238"/>
          </a:xfrm>
        </p:spPr>
        <p:txBody>
          <a:bodyPr>
            <a:normAutofit/>
          </a:bodyPr>
          <a:lstStyle/>
          <a:p>
            <a:r>
              <a:rPr lang="en-US" sz="3200" b="1" dirty="0"/>
              <a:t>Indication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Uncomplicated MDR strains of falciparum malaria- mefloquine used with artisunate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Chemoprophylaxis of chloroquine resistant falciparum malaria--  mefloquine used with chloroquine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731838"/>
          </a:xfrm>
        </p:spPr>
        <p:txBody>
          <a:bodyPr>
            <a:normAutofit/>
          </a:bodyPr>
          <a:lstStyle/>
          <a:p>
            <a:r>
              <a:rPr lang="en-US" sz="3200" b="1" dirty="0"/>
              <a:t>Adverse effects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7772400" cy="4800600"/>
          </a:xfrm>
        </p:spPr>
        <p:txBody>
          <a:bodyPr>
            <a:normAutofit/>
          </a:bodyPr>
          <a:lstStyle/>
          <a:p>
            <a:r>
              <a:rPr lang="en-US" sz="3200" b="1" dirty="0"/>
              <a:t>Common-</a:t>
            </a:r>
            <a:r>
              <a:rPr lang="en-US" sz="3200" dirty="0"/>
              <a:t> nausea, vomiting, dizziness, confusion, headache, abdominal pain, sleep disturbances</a:t>
            </a:r>
            <a:endParaRPr lang="en-US" sz="3200" dirty="0"/>
          </a:p>
          <a:p>
            <a:r>
              <a:rPr lang="en-US" sz="3200" dirty="0"/>
              <a:t>CNS effects- disorientation, visual and auditory disturbances, seizure, encephalopathy, psychotic disturbances</a:t>
            </a:r>
            <a:endParaRPr lang="en-US" sz="3200" dirty="0"/>
          </a:p>
          <a:p>
            <a:r>
              <a:rPr lang="en-US" sz="3200" dirty="0"/>
              <a:t>CVS- depression of cardiac conduction resulting in bradycardia and arrhythmias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808038"/>
          </a:xfrm>
        </p:spPr>
        <p:txBody>
          <a:bodyPr>
            <a:normAutofit/>
          </a:bodyPr>
          <a:lstStyle/>
          <a:p>
            <a:r>
              <a:rPr lang="en-US" sz="3200" b="1" dirty="0"/>
              <a:t>Contraindication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Epilepsy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Psychiatric disorder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Cardiac arrhythmia and conduction defects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Hypersensitivity</a:t>
            </a:r>
            <a:endParaRPr 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868362"/>
          </a:xfrm>
        </p:spPr>
        <p:txBody>
          <a:bodyPr/>
          <a:lstStyle/>
          <a:p>
            <a:pPr algn="ctr"/>
            <a:r>
              <a:rPr lang="en-US" sz="3600" b="1" dirty="0" err="1"/>
              <a:t>Lumefantrine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Schizonticidal</a:t>
            </a:r>
            <a:r>
              <a:rPr lang="en-US" sz="3200" dirty="0"/>
              <a:t> against erythrocytic forms of all plasmodium species including MDR strains of </a:t>
            </a:r>
            <a:r>
              <a:rPr lang="en-US" sz="3200" b="1" i="1" dirty="0"/>
              <a:t>P. falciparum</a:t>
            </a:r>
            <a:endParaRPr lang="en-US" sz="3200" b="1" i="1" dirty="0"/>
          </a:p>
          <a:p>
            <a:r>
              <a:rPr lang="en-US" sz="3200" dirty="0"/>
              <a:t>Actions similar to mefloquine</a:t>
            </a:r>
            <a:endParaRPr lang="en-US" sz="3200" dirty="0"/>
          </a:p>
          <a:p>
            <a:r>
              <a:rPr lang="en-US" sz="3200" dirty="0"/>
              <a:t>Given orally but absorption is erratic</a:t>
            </a:r>
            <a:endParaRPr lang="en-US" sz="3200" dirty="0"/>
          </a:p>
          <a:p>
            <a:r>
              <a:rPr lang="en-US" sz="3200" dirty="0"/>
              <a:t>Food enhances absorption</a:t>
            </a:r>
            <a:endParaRPr lang="en-US" sz="3200" dirty="0"/>
          </a:p>
          <a:p>
            <a:r>
              <a:rPr lang="en-US" sz="3200" dirty="0"/>
              <a:t>Excreted in the stool.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620000" cy="1036638"/>
          </a:xfrm>
        </p:spPr>
        <p:txBody>
          <a:bodyPr/>
          <a:lstStyle/>
          <a:p>
            <a:pPr algn="ctr"/>
            <a:r>
              <a:rPr lang="en-US" b="1" dirty="0"/>
              <a:t>Indication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Artemether and </a:t>
            </a:r>
            <a:r>
              <a:rPr lang="en-US" sz="3200" dirty="0" err="1"/>
              <a:t>lumefantrine</a:t>
            </a:r>
            <a:r>
              <a:rPr lang="en-US" sz="3200" dirty="0"/>
              <a:t> combination (</a:t>
            </a:r>
            <a:r>
              <a:rPr lang="en-US" sz="3200" dirty="0" err="1"/>
              <a:t>Coartem</a:t>
            </a:r>
            <a:r>
              <a:rPr lang="en-US" sz="3200" dirty="0"/>
              <a:t>) is used in treatment of </a:t>
            </a:r>
            <a:r>
              <a:rPr lang="en-US" sz="3200" b="1" dirty="0"/>
              <a:t>MDR falciparum malaria</a:t>
            </a:r>
            <a:endParaRPr lang="en-US" sz="3200" b="1" dirty="0"/>
          </a:p>
          <a:p>
            <a:endParaRPr lang="en-US" sz="3200" b="1" dirty="0"/>
          </a:p>
          <a:p>
            <a:pPr marL="114300" indent="0">
              <a:buNone/>
            </a:pPr>
            <a:r>
              <a:rPr lang="en-US" sz="3200" dirty="0"/>
              <a:t>( the combination should be given with fatty food to ensure good bioavailability)</a:t>
            </a:r>
            <a:endParaRPr lang="en-US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063"/>
            <a:ext cx="7772400" cy="9604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Primaquine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1534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Effective against all forms of the malarial parasite </a:t>
            </a:r>
            <a:r>
              <a:rPr lang="en-US" sz="3200" b="1" dirty="0"/>
              <a:t>except erythrocytic </a:t>
            </a:r>
            <a:r>
              <a:rPr lang="en-US" sz="3200" dirty="0"/>
              <a:t>forms.</a:t>
            </a:r>
            <a:endParaRPr lang="en-US" sz="3200" dirty="0"/>
          </a:p>
          <a:p>
            <a:r>
              <a:rPr lang="en-US" sz="3200" b="1" dirty="0"/>
              <a:t>Causal prophylactic: </a:t>
            </a:r>
            <a:r>
              <a:rPr lang="en-US" sz="3200" dirty="0"/>
              <a:t>it destroys the parasite in the liver cells and prevents the invasion of erythrocytes.</a:t>
            </a:r>
            <a:endParaRPr lang="en-US" sz="3200" dirty="0"/>
          </a:p>
          <a:p>
            <a:r>
              <a:rPr lang="en-US" sz="3200" b="1" dirty="0" err="1"/>
              <a:t>Hypnozoitocide</a:t>
            </a:r>
            <a:r>
              <a:rPr lang="en-US" sz="3200" b="1" dirty="0"/>
              <a:t>:  </a:t>
            </a:r>
            <a:r>
              <a:rPr lang="en-US" sz="3200" dirty="0"/>
              <a:t>Primaquine destroys </a:t>
            </a:r>
            <a:r>
              <a:rPr lang="en-US" sz="3200" dirty="0" err="1"/>
              <a:t>hypnozoites</a:t>
            </a:r>
            <a:r>
              <a:rPr lang="en-US" sz="3200" dirty="0"/>
              <a:t> (</a:t>
            </a:r>
            <a:r>
              <a:rPr lang="en-US" sz="3200" dirty="0" err="1"/>
              <a:t>exoerythrocytic</a:t>
            </a:r>
            <a:r>
              <a:rPr lang="en-US" sz="3200" dirty="0"/>
              <a:t> forms) in the liver and thereby prevents the relapse of </a:t>
            </a:r>
            <a:r>
              <a:rPr lang="en-US" sz="3200" i="1" dirty="0" err="1"/>
              <a:t>P.vivax</a:t>
            </a:r>
            <a:r>
              <a:rPr lang="en-US" sz="3200" dirty="0"/>
              <a:t> and </a:t>
            </a:r>
            <a:r>
              <a:rPr lang="en-US" sz="3200" i="1" dirty="0"/>
              <a:t>P. </a:t>
            </a:r>
            <a:r>
              <a:rPr lang="en-US" sz="3200" i="1" dirty="0" err="1"/>
              <a:t>ovale</a:t>
            </a:r>
            <a:r>
              <a:rPr lang="en-US" sz="3200" i="1" dirty="0"/>
              <a:t> </a:t>
            </a:r>
            <a:r>
              <a:rPr lang="en-US" sz="3200" dirty="0"/>
              <a:t>malaria.</a:t>
            </a:r>
            <a:endParaRPr 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7772400" cy="4800600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Gametocide</a:t>
            </a:r>
            <a:r>
              <a:rPr lang="en-US" sz="3200" b="1" dirty="0"/>
              <a:t>:</a:t>
            </a:r>
            <a:r>
              <a:rPr lang="en-US" sz="3200" dirty="0"/>
              <a:t> destroys the gametocytes of all four species of the malarial parasite, </a:t>
            </a:r>
            <a:r>
              <a:rPr lang="en-US" sz="3200" b="1" dirty="0"/>
              <a:t>so interrupting the life cycle and preventing the infection of mosquito. </a:t>
            </a:r>
            <a:endParaRPr lang="en-US" sz="3200" b="1" dirty="0"/>
          </a:p>
          <a:p>
            <a:r>
              <a:rPr lang="en-US" sz="3200" b="1" dirty="0"/>
              <a:t>Mechanism of action: </a:t>
            </a:r>
            <a:r>
              <a:rPr lang="en-US" sz="3200" dirty="0"/>
              <a:t>is not known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772400" cy="6556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Indications of primaquine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001000" cy="4516582"/>
          </a:xfrm>
        </p:spPr>
        <p:txBody>
          <a:bodyPr>
            <a:normAutofit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Radical cure of </a:t>
            </a:r>
            <a:r>
              <a:rPr lang="en-US" sz="3200" b="1" i="1" dirty="0"/>
              <a:t>P. </a:t>
            </a:r>
            <a:r>
              <a:rPr lang="en-US" sz="3200" b="1" i="1" dirty="0" err="1"/>
              <a:t>vivax</a:t>
            </a:r>
            <a:r>
              <a:rPr lang="en-US" sz="3200" b="1" dirty="0"/>
              <a:t> and </a:t>
            </a:r>
            <a:r>
              <a:rPr lang="en-US" sz="3200" b="1" i="1" dirty="0"/>
              <a:t>P. </a:t>
            </a:r>
            <a:r>
              <a:rPr lang="en-US" sz="3200" b="1" i="1" dirty="0" err="1"/>
              <a:t>ovale</a:t>
            </a:r>
            <a:r>
              <a:rPr lang="en-US" sz="3200" b="1" i="1" dirty="0"/>
              <a:t> </a:t>
            </a:r>
            <a:r>
              <a:rPr lang="en-US" sz="3200" b="1" dirty="0"/>
              <a:t>malaria: </a:t>
            </a:r>
            <a:r>
              <a:rPr lang="en-US" sz="3200" dirty="0"/>
              <a:t>along with a blood schizonticide.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Dose: 15 mg/day for 14 days</a:t>
            </a:r>
            <a:endParaRPr lang="en-US" sz="32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b="1" dirty="0"/>
              <a:t>Gametocidal effects:</a:t>
            </a:r>
            <a:r>
              <a:rPr lang="en-US" sz="3200" dirty="0"/>
              <a:t> Primaquine is used for its gametocidal effects in </a:t>
            </a:r>
            <a:r>
              <a:rPr lang="en-US" sz="3200" i="1" dirty="0"/>
              <a:t>P. falciparum</a:t>
            </a:r>
            <a:r>
              <a:rPr lang="en-US" sz="3200" dirty="0"/>
              <a:t> malaria--- 45mg single dose.</a:t>
            </a:r>
            <a:endParaRPr lang="en-US" sz="3200" dirty="0"/>
          </a:p>
          <a:p>
            <a:pPr marL="0" indent="0">
              <a:buFont typeface="+mj-lt"/>
              <a:buNone/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Radical cure : 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Rx of both the blood stage and liver stage of malarial parasite… obtained by primaquine that eradicates liver stage of p. </a:t>
            </a:r>
            <a:r>
              <a:rPr lang="en-US" sz="3200" dirty="0" err="1">
                <a:solidFill>
                  <a:srgbClr val="FF0000"/>
                </a:solidFill>
                <a:sym typeface="+mn-ea"/>
              </a:rPr>
              <a:t>vivax</a:t>
            </a:r>
            <a:r>
              <a:rPr lang="en-US" sz="3200" dirty="0">
                <a:solidFill>
                  <a:srgbClr val="FF0000"/>
                </a:solidFill>
                <a:sym typeface="+mn-ea"/>
              </a:rPr>
              <a:t> malaria</a:t>
            </a:r>
            <a:endParaRPr lang="en-US" sz="3200" b="0" dirty="0">
              <a:solidFill>
                <a:srgbClr val="FF0000"/>
              </a:solidFill>
            </a:endParaRPr>
          </a:p>
          <a:p>
            <a:pPr marL="0" indent="0">
              <a:buFont typeface="+mj-lt"/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229600" cy="61722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b="1" dirty="0"/>
              <a:t>Terminal prophylaxis: </a:t>
            </a:r>
            <a:r>
              <a:rPr lang="en-US" sz="3200" dirty="0"/>
              <a:t>After a visit to an endemic area (along with regular chloroquine prophylaxis), a curse of primaquine is recommended to destroy the liver forms and gametocytes—15-30 mg for 14 days.</a:t>
            </a:r>
            <a:endParaRPr lang="en-US" sz="3200" b="1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3200" b="1" dirty="0"/>
              <a:t>Chemoprophylaxis of falciparum and </a:t>
            </a:r>
            <a:r>
              <a:rPr lang="en-US" sz="3200" b="1" dirty="0" err="1"/>
              <a:t>vivax</a:t>
            </a:r>
            <a:r>
              <a:rPr lang="en-US" sz="3200" b="1" dirty="0"/>
              <a:t> malaria</a:t>
            </a:r>
            <a:endParaRPr lang="en-US" sz="3200" b="1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3200" b="1" dirty="0"/>
              <a:t>Pneumocystis jiroveci: </a:t>
            </a:r>
            <a:r>
              <a:rPr lang="en-US" sz="3200" dirty="0"/>
              <a:t>In mild to moderate pneumocystis, as an alternative to </a:t>
            </a:r>
            <a:r>
              <a:rPr lang="en-US" sz="3200" dirty="0" err="1"/>
              <a:t>cotrimoxazole</a:t>
            </a:r>
            <a:r>
              <a:rPr lang="en-US" sz="3200" dirty="0"/>
              <a:t>, a combination of clindamycin with primaquine may be used.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080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Adverse effects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772400" cy="4953000"/>
          </a:xfrm>
        </p:spPr>
        <p:txBody>
          <a:bodyPr>
            <a:normAutofit/>
          </a:bodyPr>
          <a:lstStyle/>
          <a:p>
            <a:r>
              <a:rPr lang="en-US" sz="3200" dirty="0"/>
              <a:t>Primaquine is well tolerated in therapeutic doses. There may be-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 Epigastric distress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 Agranulocytosis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 Haemolytic anaemia </a:t>
            </a:r>
            <a:r>
              <a:rPr lang="en-US" sz="3200" dirty="0"/>
              <a:t>–in glucose-6-phsphate dehydrogenase deficiency</a:t>
            </a:r>
            <a:endParaRPr 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7318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Contraindications of primaquine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Pregnant women (as fetus is relatively G6PD deficient)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 glucose-6-phsphate dehydrogenase deficiency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Granulocytopenia</a:t>
            </a:r>
            <a:r>
              <a:rPr lang="en-US" sz="3200" dirty="0"/>
              <a:t> or methemglobenaemia</a:t>
            </a:r>
            <a:endParaRPr 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7318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Proguanil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biguanide</a:t>
            </a:r>
            <a:endParaRPr lang="en-US" sz="3200" dirty="0"/>
          </a:p>
          <a:p>
            <a:r>
              <a:rPr lang="en-US" sz="3200" dirty="0"/>
              <a:t>A blood schizonticide but also has causal prophylactic activity.</a:t>
            </a:r>
            <a:endParaRPr lang="en-US" sz="3200" dirty="0"/>
          </a:p>
          <a:p>
            <a:r>
              <a:rPr lang="en-US" sz="3200" dirty="0"/>
              <a:t>The onset of action is slow and when used as monotherapy resistance develops rapidly. Hence , it is always used in combination with atovaquone in malaria.</a:t>
            </a:r>
            <a:endParaRPr lang="en-US" sz="3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6556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Mechanism of action of Proguanil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772400" cy="5334000"/>
          </a:xfrm>
        </p:spPr>
        <p:txBody>
          <a:bodyPr>
            <a:normAutofit/>
          </a:bodyPr>
          <a:lstStyle/>
          <a:p>
            <a:r>
              <a:rPr lang="en-US" sz="3200" dirty="0"/>
              <a:t>Proguanil, a prodrug, is converted to cycloguanil in the body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This metabolite is an inhibitor of dihydrofolate reductase in the </a:t>
            </a:r>
            <a:r>
              <a:rPr lang="en-US" sz="3200" i="1" dirty="0"/>
              <a:t>Plasmodium</a:t>
            </a:r>
            <a:endParaRPr lang="en-US" sz="3200" i="1" dirty="0"/>
          </a:p>
          <a:p>
            <a:pPr marL="0" indent="0">
              <a:buNone/>
            </a:pPr>
            <a:endParaRPr lang="en-US" sz="3200" i="1" dirty="0"/>
          </a:p>
          <a:p>
            <a:r>
              <a:rPr lang="en-US" sz="3200" dirty="0"/>
              <a:t>Inhibits folate synthesis</a:t>
            </a:r>
            <a:endParaRPr lang="en-US" sz="32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648200" y="2182091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648200" y="3872344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772400" cy="808038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Indications of Proguanil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Causal prophylaxis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Chloroquine resistant falciparum malaria (along with atovaquone)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Toxoplasmosis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i="1" dirty="0"/>
              <a:t>Pneumocystis </a:t>
            </a:r>
            <a:r>
              <a:rPr lang="en-US" sz="3200" i="1" dirty="0" err="1"/>
              <a:t>carinii</a:t>
            </a:r>
            <a:r>
              <a:rPr lang="en-US" sz="3200" i="1" dirty="0"/>
              <a:t> </a:t>
            </a:r>
            <a:r>
              <a:rPr lang="en-US" sz="3200" dirty="0"/>
              <a:t>pneumonia</a:t>
            </a:r>
            <a:endParaRPr lang="en-US" sz="3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/>
              <a:t>Adverse effects of Proguanil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7086600" cy="45720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Calibri (body)"/>
                <a:cs typeface="Times New Roman" panose="02020603050405020304" pitchFamily="18" charset="0"/>
              </a:rPr>
              <a:t>A/E are minor including nausea, vomiting, diarrhoea, abdominal pain and rarely haematuria</a:t>
            </a:r>
            <a:endParaRPr lang="en-US" sz="3000" dirty="0">
              <a:latin typeface="Calibri (body)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2400" cy="731838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/>
              <a:t>Atovaquone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7772400" cy="4876800"/>
          </a:xfrm>
        </p:spPr>
        <p:txBody>
          <a:bodyPr>
            <a:normAutofit/>
          </a:bodyPr>
          <a:lstStyle/>
          <a:p>
            <a:r>
              <a:rPr lang="en-US" sz="3200" dirty="0"/>
              <a:t>Effective against the erythrocytic forms of plasmodia.</a:t>
            </a:r>
            <a:endParaRPr lang="en-US" sz="3200" dirty="0"/>
          </a:p>
          <a:p>
            <a:r>
              <a:rPr lang="en-US" sz="3200" dirty="0"/>
              <a:t>When combined with proguanil, the activity is synergistic and development of resistance is less common.</a:t>
            </a:r>
            <a:endParaRPr lang="en-US" sz="3200" dirty="0"/>
          </a:p>
          <a:p>
            <a:r>
              <a:rPr lang="en-US" sz="3200" b="1" dirty="0" err="1"/>
              <a:t>Malaron</a:t>
            </a:r>
            <a:r>
              <a:rPr lang="en-US" sz="3200" b="1" dirty="0"/>
              <a:t>=Atovaquone (250mg) + Proguanil (100mg)</a:t>
            </a:r>
            <a:endParaRPr lang="en-US" sz="3200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/>
              <a:t>Mechanism of action of Atovaquone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Atovaquone inhibits mitochondrial electron transport of malarial parasite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No metabolism of food of malarial parasite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No energy production 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Subsequently death of malarial parasite</a:t>
            </a:r>
            <a:endParaRPr lang="en-US" sz="32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114800" y="2743200"/>
            <a:ext cx="0" cy="457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110446" y="5029200"/>
            <a:ext cx="0" cy="457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114800" y="3962400"/>
            <a:ext cx="0" cy="457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/>
              <a:t>Indications of Atovaquone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48600" cy="5105400"/>
          </a:xfrm>
        </p:spPr>
        <p:txBody>
          <a:bodyPr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US" sz="3200" dirty="0"/>
              <a:t>Treatment of chloroquine resistant falciparum malaria (</a:t>
            </a:r>
            <a:r>
              <a:rPr lang="en-US" sz="3200" dirty="0" err="1"/>
              <a:t>malarone</a:t>
            </a:r>
            <a:r>
              <a:rPr lang="en-US" sz="3200" dirty="0"/>
              <a:t>)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Chemoprophylaxis of chloroquine resistant falciparum malaria (</a:t>
            </a:r>
            <a:r>
              <a:rPr lang="en-US" sz="3200" dirty="0" err="1"/>
              <a:t>malarone</a:t>
            </a:r>
            <a:r>
              <a:rPr lang="en-US" sz="3200" dirty="0"/>
              <a:t>)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Atovaquone is used to treat </a:t>
            </a:r>
            <a:r>
              <a:rPr lang="en-US" sz="3200" i="1" dirty="0"/>
              <a:t>Pneumocystis </a:t>
            </a:r>
            <a:r>
              <a:rPr lang="en-US" sz="3200" i="1" dirty="0" err="1"/>
              <a:t>carinii</a:t>
            </a:r>
            <a:r>
              <a:rPr lang="en-US" sz="3200" i="1" dirty="0"/>
              <a:t> </a:t>
            </a:r>
            <a:r>
              <a:rPr lang="en-US" sz="3200" dirty="0"/>
              <a:t>pneumonia and toxoplasmosis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/>
              <a:t>Adverse effects of Atovaquone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GIT upset--nausea, vomiting, diarrhoea, abdominal pain</a:t>
            </a:r>
            <a:endParaRPr lang="en-US" sz="3200" dirty="0">
              <a:latin typeface="Calibri (body)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sz="3200" dirty="0" err="1">
                <a:latin typeface="Calibri (body)"/>
                <a:cs typeface="Times New Roman" panose="02020603050405020304" pitchFamily="18" charset="0"/>
              </a:rPr>
              <a:t>Seizure,confusion</a:t>
            </a:r>
            <a:endParaRPr lang="en-US" sz="3200" dirty="0">
              <a:latin typeface="Calibri (body)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Q-T prolongation</a:t>
            </a:r>
            <a:endParaRPr lang="en-US" sz="3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/>
              <a:t>Contraindication of Atovaquone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US" sz="3200" dirty="0"/>
              <a:t>Pregnancy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Cardiac arrhythmia</a:t>
            </a:r>
            <a:endParaRPr lang="en-US" sz="3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15962"/>
          </a:xfrm>
        </p:spPr>
        <p:txBody>
          <a:bodyPr/>
          <a:lstStyle/>
          <a:p>
            <a:r>
              <a:rPr lang="en-US" sz="3200" b="1" dirty="0"/>
              <a:t>Artimisinin and its derivatives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67543"/>
            <a:ext cx="7620000" cy="5257800"/>
          </a:xfrm>
        </p:spPr>
        <p:txBody>
          <a:bodyPr>
            <a:normAutofit/>
          </a:bodyPr>
          <a:lstStyle/>
          <a:p>
            <a:r>
              <a:rPr lang="en-US" sz="3200" dirty="0"/>
              <a:t>Artisunate</a:t>
            </a:r>
            <a:endParaRPr lang="en-US" sz="3200" dirty="0"/>
          </a:p>
          <a:p>
            <a:r>
              <a:rPr lang="en-US" sz="3200" dirty="0"/>
              <a:t>Artemether</a:t>
            </a:r>
            <a:endParaRPr lang="en-US" sz="3200" dirty="0"/>
          </a:p>
          <a:p>
            <a:r>
              <a:rPr lang="en-US" sz="3200" dirty="0" err="1"/>
              <a:t>Dihydro-artemisinin</a:t>
            </a:r>
            <a:endParaRPr lang="en-US" sz="3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620000" cy="731838"/>
          </a:xfrm>
        </p:spPr>
        <p:txBody>
          <a:bodyPr/>
          <a:lstStyle/>
          <a:p>
            <a:pPr algn="ctr"/>
            <a:r>
              <a:rPr lang="en-US" sz="3200" b="1" dirty="0"/>
              <a:t>Pharmacokinetics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620000" cy="5257800"/>
          </a:xfrm>
        </p:spPr>
        <p:txBody>
          <a:bodyPr>
            <a:normAutofit/>
          </a:bodyPr>
          <a:lstStyle/>
          <a:p>
            <a:r>
              <a:rPr lang="en-US" sz="3200" dirty="0"/>
              <a:t>Artisunate– water soluble-- oral, IM, IV, rectal</a:t>
            </a:r>
            <a:endParaRPr lang="en-US" sz="3200" dirty="0"/>
          </a:p>
          <a:p>
            <a:r>
              <a:rPr lang="en-US" sz="3200" dirty="0"/>
              <a:t>Artemether-- lipid soluble-- oral, IM, rectal</a:t>
            </a:r>
            <a:endParaRPr lang="en-US" sz="3200" dirty="0"/>
          </a:p>
          <a:p>
            <a:r>
              <a:rPr lang="en-US" sz="3200" dirty="0" err="1"/>
              <a:t>Dihydroartemisinin</a:t>
            </a:r>
            <a:r>
              <a:rPr lang="en-US" sz="3200" dirty="0"/>
              <a:t>- water soluble-- oral</a:t>
            </a:r>
            <a:endParaRPr lang="en-US" sz="3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/>
              <a:t>Mechanism of action of </a:t>
            </a:r>
            <a:r>
              <a:rPr lang="en-US" sz="3200" b="1" u="sng" dirty="0" err="1"/>
              <a:t>Artimisinins</a:t>
            </a: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620000" cy="5334000"/>
          </a:xfrm>
        </p:spPr>
        <p:txBody>
          <a:bodyPr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US" sz="3200" dirty="0"/>
              <a:t>Artimisinin interacts with haem resulting in generation of free radicals</a:t>
            </a:r>
            <a:endParaRPr lang="en-US" sz="3200" dirty="0"/>
          </a:p>
          <a:p>
            <a:r>
              <a:rPr lang="en-US" sz="3200" dirty="0"/>
              <a:t>free radicals bind to and subsequently damage to the macromolecules and membrane proteins</a:t>
            </a:r>
            <a:endParaRPr lang="en-US" sz="3200" dirty="0"/>
          </a:p>
          <a:p>
            <a:r>
              <a:rPr lang="en-US" sz="3200" dirty="0"/>
              <a:t>Death of malarial parasite</a:t>
            </a:r>
            <a:endParaRPr lang="en-US" sz="3200" dirty="0"/>
          </a:p>
          <a:p>
            <a:pPr marL="628650" indent="-514350">
              <a:buFont typeface="+mj-lt"/>
              <a:buAutoNum type="arabicPeriod" startAt="2"/>
            </a:pPr>
            <a:r>
              <a:rPr lang="en-US" sz="3200" dirty="0"/>
              <a:t>It also inhibit calcium ATPase in the parasite.</a:t>
            </a:r>
            <a:endParaRPr lang="en-US" sz="32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191000" y="2362200"/>
            <a:ext cx="0" cy="2286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171406" y="3810000"/>
            <a:ext cx="0" cy="2286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868362"/>
          </a:xfrm>
        </p:spPr>
        <p:txBody>
          <a:bodyPr/>
          <a:lstStyle/>
          <a:p>
            <a:r>
              <a:rPr lang="en-US" sz="3200" b="1" dirty="0"/>
              <a:t>Artimisinin based combination therapy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620000" cy="5257800"/>
          </a:xfrm>
        </p:spPr>
        <p:txBody>
          <a:bodyPr>
            <a:normAutofit/>
          </a:bodyPr>
          <a:lstStyle/>
          <a:p>
            <a:r>
              <a:rPr lang="en-US" sz="3200" dirty="0"/>
              <a:t>(ACT) is the WHO recommended treatment </a:t>
            </a:r>
            <a:r>
              <a:rPr lang="en-US" sz="3200" b="1" dirty="0"/>
              <a:t>for all confirmed cases of falciparum malaria.</a:t>
            </a:r>
            <a:endParaRPr lang="en-US" sz="3200" b="1" dirty="0"/>
          </a:p>
          <a:p>
            <a:r>
              <a:rPr lang="en-US" sz="3200" b="1" dirty="0"/>
              <a:t>Uses:</a:t>
            </a:r>
            <a:endParaRPr lang="en-US" sz="3200" b="1" dirty="0"/>
          </a:p>
          <a:p>
            <a:pPr marL="571500" indent="-457200">
              <a:buFont typeface="+mj-lt"/>
              <a:buAutoNum type="arabicPeriod"/>
            </a:pPr>
            <a:r>
              <a:rPr lang="en-US" sz="3200" dirty="0"/>
              <a:t>In the treatment of resistant/MDR falciparum malaria.</a:t>
            </a:r>
            <a:endParaRPr lang="en-US" sz="3200" dirty="0"/>
          </a:p>
          <a:p>
            <a:pPr marL="571500" indent="-457200">
              <a:buFont typeface="+mj-lt"/>
              <a:buAutoNum type="arabicPeriod"/>
            </a:pPr>
            <a:r>
              <a:rPr lang="en-US" sz="3200" dirty="0"/>
              <a:t>In the treatment of uncomplicated and severe falciparum malaria</a:t>
            </a:r>
            <a:r>
              <a:rPr lang="en-US" sz="3200" b="1" dirty="0"/>
              <a:t>.</a:t>
            </a:r>
            <a:endParaRPr lang="en-US" sz="3200" b="1" dirty="0"/>
          </a:p>
          <a:p>
            <a:pPr marL="114300" indent="0">
              <a:buNone/>
            </a:pPr>
            <a:endParaRPr lang="en-US" sz="3200" b="1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7620000" cy="58674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ACT= Tab. </a:t>
            </a:r>
            <a:r>
              <a:rPr lang="en-US" sz="3200" dirty="0" err="1"/>
              <a:t>Coartem</a:t>
            </a:r>
            <a:r>
              <a:rPr lang="en-US" sz="3200" dirty="0"/>
              <a:t>= Artemether 20mg + </a:t>
            </a:r>
            <a:r>
              <a:rPr lang="en-US" sz="3200" dirty="0" err="1"/>
              <a:t>Lumefantrine</a:t>
            </a:r>
            <a:r>
              <a:rPr lang="en-US" sz="3200" dirty="0"/>
              <a:t> 120mg</a:t>
            </a:r>
            <a:endParaRPr lang="en-US" sz="3200" dirty="0"/>
          </a:p>
          <a:p>
            <a:r>
              <a:rPr lang="en-US" sz="3200" b="1" dirty="0"/>
              <a:t>Advantages of ACT:</a:t>
            </a:r>
            <a:endParaRPr lang="en-US" sz="3200" b="1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Rapid action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Better efficacy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High cure rates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Reduced risk of development of resistance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Fewer toxic effects</a:t>
            </a:r>
            <a:endParaRPr lang="en-US" sz="3200" dirty="0"/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In some cases, shorter duration of treatment</a:t>
            </a:r>
            <a:endParaRPr lang="en-US" sz="3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/>
          <a:lstStyle/>
          <a:p>
            <a:r>
              <a:rPr lang="en-US" sz="3200" b="1" u="sng" dirty="0"/>
              <a:t>Adverse effects of </a:t>
            </a:r>
            <a:r>
              <a:rPr lang="en-US" sz="3200" b="1" u="sng" dirty="0" err="1"/>
              <a:t>Artimisinins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sz="3200" dirty="0"/>
              <a:t>GIT upset</a:t>
            </a:r>
            <a:endParaRPr lang="en-US" sz="3200" dirty="0"/>
          </a:p>
          <a:p>
            <a:pPr marL="571500" indent="-457200">
              <a:buFont typeface="+mj-lt"/>
              <a:buAutoNum type="arabicPeriod"/>
            </a:pPr>
            <a:r>
              <a:rPr lang="en-US" sz="3200" dirty="0"/>
              <a:t>Itching, rashes</a:t>
            </a:r>
            <a:endParaRPr lang="en-US" sz="3200" dirty="0"/>
          </a:p>
          <a:p>
            <a:pPr marL="571500" indent="-457200">
              <a:buFont typeface="+mj-lt"/>
              <a:buAutoNum type="arabicPeriod"/>
            </a:pPr>
            <a:r>
              <a:rPr lang="en-US" sz="3200" dirty="0"/>
              <a:t>Anaemia, hemolysis, neutropenia– rare and reversible</a:t>
            </a:r>
            <a:endParaRPr lang="en-US" sz="3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620000" cy="639762"/>
          </a:xfrm>
        </p:spPr>
        <p:txBody>
          <a:bodyPr/>
          <a:lstStyle/>
          <a:p>
            <a:pPr algn="ctr"/>
            <a:r>
              <a:rPr lang="en-US" sz="3200" b="1" dirty="0"/>
              <a:t>Malaria in pregnancy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7848600" cy="58674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P. </a:t>
            </a:r>
            <a:r>
              <a:rPr lang="en-US" sz="3200" dirty="0" err="1"/>
              <a:t>vivax</a:t>
            </a:r>
            <a:r>
              <a:rPr lang="en-US" sz="3200" dirty="0"/>
              <a:t> malaria- chloroquine</a:t>
            </a:r>
            <a:endParaRPr lang="en-US" sz="3200" dirty="0"/>
          </a:p>
          <a:p>
            <a:r>
              <a:rPr lang="en-US" sz="3200" dirty="0"/>
              <a:t>P. falciparum malaria</a:t>
            </a:r>
            <a:endParaRPr lang="en-US" sz="3200" dirty="0"/>
          </a:p>
          <a:p>
            <a:pPr marL="114300" indent="0">
              <a:buNone/>
            </a:pPr>
            <a:r>
              <a:rPr lang="en-US" sz="3200" u="sng" dirty="0"/>
              <a:t> a. </a:t>
            </a:r>
            <a:r>
              <a:rPr lang="en-US" sz="3200" u="sng" dirty="0" err="1"/>
              <a:t>Uncmplicated</a:t>
            </a:r>
            <a:r>
              <a:rPr lang="en-US" sz="3200" u="sng" dirty="0"/>
              <a:t>:</a:t>
            </a:r>
            <a:endParaRPr lang="en-US" sz="3200" u="sng" dirty="0"/>
          </a:p>
          <a:p>
            <a:pPr marL="114300" indent="0">
              <a:buNone/>
            </a:pPr>
            <a:r>
              <a:rPr lang="en-US" sz="3200" dirty="0"/>
              <a:t>    1</a:t>
            </a:r>
            <a:r>
              <a:rPr lang="en-US" sz="3200" baseline="30000" dirty="0"/>
              <a:t>st</a:t>
            </a:r>
            <a:r>
              <a:rPr lang="en-US" sz="3200" dirty="0"/>
              <a:t> trimester- quinine + clindamycin (7 days)</a:t>
            </a: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     2</a:t>
            </a:r>
            <a:r>
              <a:rPr lang="en-US" sz="3200" baseline="30000" dirty="0"/>
              <a:t>nd</a:t>
            </a:r>
            <a:r>
              <a:rPr lang="en-US" sz="3200" dirty="0"/>
              <a:t> and 3</a:t>
            </a:r>
            <a:r>
              <a:rPr lang="en-US" sz="3200" baseline="30000" dirty="0"/>
              <a:t>rd</a:t>
            </a:r>
            <a:r>
              <a:rPr lang="en-US" sz="3200" dirty="0"/>
              <a:t> trimester- ACT (</a:t>
            </a:r>
            <a:r>
              <a:rPr lang="en-US" sz="3200" dirty="0" err="1"/>
              <a:t>artemether</a:t>
            </a:r>
            <a:r>
              <a:rPr lang="en-US" sz="3200" dirty="0"/>
              <a:t> + </a:t>
            </a:r>
            <a:r>
              <a:rPr lang="en-US" sz="3200" dirty="0" err="1"/>
              <a:t>lumefantrine</a:t>
            </a:r>
            <a:r>
              <a:rPr lang="en-US" sz="3200" dirty="0"/>
              <a:t>)</a:t>
            </a: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Alternatives:</a:t>
            </a: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  1. ACT with mefloquine</a:t>
            </a: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   2. Quinine</a:t>
            </a:r>
            <a:endParaRPr lang="en-US" sz="3200" dirty="0"/>
          </a:p>
          <a:p>
            <a:pPr marL="114300" indent="0">
              <a:buNone/>
            </a:pPr>
            <a:r>
              <a:rPr lang="en-US" sz="3200" u="sng" dirty="0"/>
              <a:t>b. Complicated: </a:t>
            </a:r>
            <a:r>
              <a:rPr lang="en-US" sz="3200" dirty="0"/>
              <a:t>ACT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29599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0</TotalTime>
  <Words>15092</Words>
  <Application>WPS Presentation</Application>
  <PresentationFormat>On-screen Show (4:3)</PresentationFormat>
  <Paragraphs>464</Paragraphs>
  <Slides>63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3" baseType="lpstr">
      <vt:lpstr>Arial</vt:lpstr>
      <vt:lpstr>SimSun</vt:lpstr>
      <vt:lpstr>Wingdings</vt:lpstr>
      <vt:lpstr>Calibri</vt:lpstr>
      <vt:lpstr>Cambria</vt:lpstr>
      <vt:lpstr>Microsoft YaHei</vt:lpstr>
      <vt:lpstr>Arial Unicode MS</vt:lpstr>
      <vt:lpstr>Calibri (body)</vt:lpstr>
      <vt:lpstr>Times New Roman</vt:lpstr>
      <vt:lpstr>Adjacency</vt:lpstr>
      <vt:lpstr>Antimalarial Drugs</vt:lpstr>
      <vt:lpstr>Malaria</vt:lpstr>
      <vt:lpstr>Causative factor</vt:lpstr>
      <vt:lpstr>Mode of transmission</vt:lpstr>
      <vt:lpstr>Pattern of malaria</vt:lpstr>
      <vt:lpstr>Antimalarial drugs</vt:lpstr>
      <vt:lpstr>PowerPoint 演示文稿</vt:lpstr>
      <vt:lpstr>Chemical classification</vt:lpstr>
      <vt:lpstr>PowerPoint 演示文稿</vt:lpstr>
      <vt:lpstr>Chloroquine</vt:lpstr>
      <vt:lpstr>Pharmacokinetics of Chloroquine</vt:lpstr>
      <vt:lpstr>Antimalarial actions</vt:lpstr>
      <vt:lpstr>Antimalarial actions…..</vt:lpstr>
      <vt:lpstr>PowerPoint 演示文稿</vt:lpstr>
      <vt:lpstr>Other actions of Chloroquine </vt:lpstr>
      <vt:lpstr>Indication/use</vt:lpstr>
      <vt:lpstr>Adverse effects of Chloroquine</vt:lpstr>
      <vt:lpstr>Adverse effects cont…..</vt:lpstr>
      <vt:lpstr>Contraindications  of Chloroquine </vt:lpstr>
      <vt:lpstr>Precautions/drug interactions </vt:lpstr>
      <vt:lpstr>PowerPoint 演示文稿</vt:lpstr>
      <vt:lpstr>Quinine</vt:lpstr>
      <vt:lpstr>Pharmacokinetics of Quinine</vt:lpstr>
      <vt:lpstr>Antimalarial actions of quinine/quinidine</vt:lpstr>
      <vt:lpstr>Pharmacological effects</vt:lpstr>
      <vt:lpstr>Indication of quinine</vt:lpstr>
      <vt:lpstr>Adverse effects of quinine</vt:lpstr>
      <vt:lpstr>PowerPoint 演示文稿</vt:lpstr>
      <vt:lpstr>PowerPoint 演示文稿</vt:lpstr>
      <vt:lpstr>Contraindication of quinine</vt:lpstr>
      <vt:lpstr>Precautions</vt:lpstr>
      <vt:lpstr>Precautions cont……</vt:lpstr>
      <vt:lpstr>Mefloquine</vt:lpstr>
      <vt:lpstr>Pharmacokinetics of Mefloquine</vt:lpstr>
      <vt:lpstr>Mechanism of action</vt:lpstr>
      <vt:lpstr>Indication</vt:lpstr>
      <vt:lpstr>Adverse effects</vt:lpstr>
      <vt:lpstr>Contraindication</vt:lpstr>
      <vt:lpstr>Lumefantrine</vt:lpstr>
      <vt:lpstr>Indication</vt:lpstr>
      <vt:lpstr>Primaquine</vt:lpstr>
      <vt:lpstr>PowerPoint 演示文稿</vt:lpstr>
      <vt:lpstr>Indications of primaquine</vt:lpstr>
      <vt:lpstr>PowerPoint 演示文稿</vt:lpstr>
      <vt:lpstr>Adverse effects</vt:lpstr>
      <vt:lpstr>Contraindications of primaquine</vt:lpstr>
      <vt:lpstr>Proguanil</vt:lpstr>
      <vt:lpstr>Mechanism of action of Proguanil</vt:lpstr>
      <vt:lpstr>Indications of Proguanil</vt:lpstr>
      <vt:lpstr>Adverse effects of Proguanil</vt:lpstr>
      <vt:lpstr>Atovaquone</vt:lpstr>
      <vt:lpstr>Mechanism of action of Atovaquone</vt:lpstr>
      <vt:lpstr>Indications of Atovaquone</vt:lpstr>
      <vt:lpstr>Adverse effects of Atovaquone</vt:lpstr>
      <vt:lpstr>Contraindication of Atovaquone</vt:lpstr>
      <vt:lpstr>Artimisinin and its derivatives</vt:lpstr>
      <vt:lpstr>Pharmacokinetics</vt:lpstr>
      <vt:lpstr>Mechanism of action of Artimisinins</vt:lpstr>
      <vt:lpstr>Artimisinin based combination therapy</vt:lpstr>
      <vt:lpstr>PowerPoint 演示文稿</vt:lpstr>
      <vt:lpstr>Adverse effects of Artimisinins</vt:lpstr>
      <vt:lpstr>Malaria in pregnancy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Neehal</dc:creator>
  <cp:lastModifiedBy>MD. FAKHRUL HASAN 2204066</cp:lastModifiedBy>
  <cp:revision>190</cp:revision>
  <dcterms:created xsi:type="dcterms:W3CDTF">2006-08-16T00:00:00Z</dcterms:created>
  <dcterms:modified xsi:type="dcterms:W3CDTF">2025-07-25T11:49:06Z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76F1354D1809488398193B33A950C98D_13</vt:lpwstr>
  </property>
  <property fmtid="{D5CDD505-2E9C-101B-9397-08002B2CF9AE}" pid="3" name="KSOProductBuildVer">
    <vt:lpwstr>1033-12.2.0.21931</vt:lpwstr>
  </property>
</Properties>
</file>